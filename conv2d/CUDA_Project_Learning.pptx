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d5db858bea46da" /><Relationship Type="http://schemas.openxmlformats.org/officeDocument/2006/relationships/extended-properties" Target="/docProps/app.xml" Id="Rb5d1bac22b2949db" /><Relationship Type="http://schemas.openxmlformats.org/officeDocument/2006/relationships/officeDocument" Target="/ppt/presentation.xml" Id="R9689c27222734a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87d8b5d4b24327"/>
  </p:sldMasterIdLst>
  <p:notesMasterIdLst>
    <p:notesMasterId xmlns:r="http://schemas.openxmlformats.org/officeDocument/2006/relationships" r:id="Re3b1428f57054d3f"/>
  </p:notesMasterIdLst>
  <p:sldIdLst>
    <p:sldId xmlns:r="http://schemas.openxmlformats.org/officeDocument/2006/relationships" id="256" r:id="R7122dfd5e324486f"/>
    <p:sldId xmlns:r="http://schemas.openxmlformats.org/officeDocument/2006/relationships" id="257" r:id="Ra774f7db682c425d"/>
    <p:sldId xmlns:r="http://schemas.openxmlformats.org/officeDocument/2006/relationships" id="258" r:id="R386ca7228caa4b06"/>
    <p:sldId xmlns:r="http://schemas.openxmlformats.org/officeDocument/2006/relationships" id="259" r:id="R92529cae666949bf"/>
    <p:sldId xmlns:r="http://schemas.openxmlformats.org/officeDocument/2006/relationships" id="260" r:id="Rccf55bd9a7944f57"/>
    <p:sldId xmlns:r="http://schemas.openxmlformats.org/officeDocument/2006/relationships" id="261" r:id="R259741ff2a8248e0"/>
    <p:sldId xmlns:r="http://schemas.openxmlformats.org/officeDocument/2006/relationships" id="262" r:id="Red03a503af734a87"/>
    <p:sldId xmlns:r="http://schemas.openxmlformats.org/officeDocument/2006/relationships" id="263" r:id="Rabcc9bc98c874d47"/>
    <p:sldId xmlns:r="http://schemas.openxmlformats.org/officeDocument/2006/relationships" id="264" r:id="R5e26145c7a5847c0"/>
    <p:sldId xmlns:r="http://schemas.openxmlformats.org/officeDocument/2006/relationships" id="265" r:id="R4d036695294d4935"/>
    <p:sldId xmlns:r="http://schemas.openxmlformats.org/officeDocument/2006/relationships" id="266" r:id="Rb2eba457a3d249ec"/>
    <p:sldId xmlns:r="http://schemas.openxmlformats.org/officeDocument/2006/relationships" id="267" r:id="Rfefcb0926e7546aa"/>
    <p:sldId xmlns:r="http://schemas.openxmlformats.org/officeDocument/2006/relationships" id="268" r:id="R1a9f49331de64869"/>
    <p:sldId xmlns:r="http://schemas.openxmlformats.org/officeDocument/2006/relationships" id="269" r:id="R0b8d834749ad4c20"/>
    <p:sldId xmlns:r="http://schemas.openxmlformats.org/officeDocument/2006/relationships" id="270" r:id="R4be803c88e3b4dfa"/>
    <p:sldId xmlns:r="http://schemas.openxmlformats.org/officeDocument/2006/relationships" id="271" r:id="R1b33c520c38d4e58"/>
    <p:sldId xmlns:r="http://schemas.openxmlformats.org/officeDocument/2006/relationships" id="272" r:id="Ra68f4631908a4c0a"/>
    <p:sldId xmlns:r="http://schemas.openxmlformats.org/officeDocument/2006/relationships" id="273" r:id="R430030e8a68b44da"/>
    <p:sldId xmlns:r="http://schemas.openxmlformats.org/officeDocument/2006/relationships" id="274" r:id="Re15931b9b209414b"/>
    <p:sldId xmlns:r="http://schemas.openxmlformats.org/officeDocument/2006/relationships" id="275" r:id="R2a6c199cdb9247bf"/>
    <p:sldId xmlns:r="http://schemas.openxmlformats.org/officeDocument/2006/relationships" id="276" r:id="R538bcf9c620d431e"/>
    <p:sldId xmlns:r="http://schemas.openxmlformats.org/officeDocument/2006/relationships" id="277" r:id="R2d41d7167e124492"/>
    <p:sldId xmlns:r="http://schemas.openxmlformats.org/officeDocument/2006/relationships" id="278" r:id="R9f9d5e8ccf994fd6"/>
    <p:sldId xmlns:r="http://schemas.openxmlformats.org/officeDocument/2006/relationships" id="279" r:id="R284590907ca047ac"/>
    <p:sldId xmlns:r="http://schemas.openxmlformats.org/officeDocument/2006/relationships" id="280" r:id="R1b3419734c334d8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84c75be7842e8" /><Relationship Type="http://schemas.openxmlformats.org/officeDocument/2006/relationships/slideMaster" Target="/ppt/slideMasters/slideMaster1.xml" Id="R2c87d8b5d4b24327" /><Relationship Type="http://schemas.openxmlformats.org/officeDocument/2006/relationships/notesMaster" Target="/ppt/notesMasters/notesMaster1.xml" Id="Re3b1428f57054d3f" /><Relationship Type="http://schemas.openxmlformats.org/officeDocument/2006/relationships/presProps" Target="/ppt/presProps.xml" Id="Rfa7bd3d178c04497" /><Relationship Type="http://schemas.openxmlformats.org/officeDocument/2006/relationships/tableStyles" Target="/ppt/tableStyles.xml" Id="R8c185924387c4851" /><Relationship Type="http://schemas.openxmlformats.org/officeDocument/2006/relationships/slide" Target="/ppt/slides/slide1.xml" Id="R7122dfd5e324486f" /><Relationship Type="http://schemas.openxmlformats.org/officeDocument/2006/relationships/slide" Target="/ppt/slides/slide2.xml" Id="Ra774f7db682c425d" /><Relationship Type="http://schemas.openxmlformats.org/officeDocument/2006/relationships/slide" Target="/ppt/slides/slide3.xml" Id="R386ca7228caa4b06" /><Relationship Type="http://schemas.openxmlformats.org/officeDocument/2006/relationships/slide" Target="/ppt/slides/slide4.xml" Id="R92529cae666949bf" /><Relationship Type="http://schemas.openxmlformats.org/officeDocument/2006/relationships/slide" Target="/ppt/slides/slide5.xml" Id="Rccf55bd9a7944f57" /><Relationship Type="http://schemas.openxmlformats.org/officeDocument/2006/relationships/slide" Target="/ppt/slides/slide6.xml" Id="R259741ff2a8248e0" /><Relationship Type="http://schemas.openxmlformats.org/officeDocument/2006/relationships/slide" Target="/ppt/slides/slide7.xml" Id="Red03a503af734a87" /><Relationship Type="http://schemas.openxmlformats.org/officeDocument/2006/relationships/slide" Target="/ppt/slides/slide8.xml" Id="Rabcc9bc98c874d47" /><Relationship Type="http://schemas.openxmlformats.org/officeDocument/2006/relationships/slide" Target="/ppt/slides/slide9.xml" Id="R5e26145c7a5847c0" /><Relationship Type="http://schemas.openxmlformats.org/officeDocument/2006/relationships/slide" Target="/ppt/slides/slide10.xml" Id="R4d036695294d4935" /><Relationship Type="http://schemas.openxmlformats.org/officeDocument/2006/relationships/slide" Target="/ppt/slides/slide11.xml" Id="Rb2eba457a3d249ec" /><Relationship Type="http://schemas.openxmlformats.org/officeDocument/2006/relationships/slide" Target="/ppt/slides/slide12.xml" Id="Rfefcb0926e7546aa" /><Relationship Type="http://schemas.openxmlformats.org/officeDocument/2006/relationships/slide" Target="/ppt/slides/slide13.xml" Id="R1a9f49331de64869" /><Relationship Type="http://schemas.openxmlformats.org/officeDocument/2006/relationships/slide" Target="/ppt/slides/slide14.xml" Id="R0b8d834749ad4c20" /><Relationship Type="http://schemas.openxmlformats.org/officeDocument/2006/relationships/slide" Target="/ppt/slides/slide15.xml" Id="R4be803c88e3b4dfa" /><Relationship Type="http://schemas.openxmlformats.org/officeDocument/2006/relationships/slide" Target="/ppt/slides/slide16.xml" Id="R1b33c520c38d4e58" /><Relationship Type="http://schemas.openxmlformats.org/officeDocument/2006/relationships/slide" Target="/ppt/slides/slide17.xml" Id="Ra68f4631908a4c0a" /><Relationship Type="http://schemas.openxmlformats.org/officeDocument/2006/relationships/slide" Target="/ppt/slides/slide18.xml" Id="R430030e8a68b44da" /><Relationship Type="http://schemas.openxmlformats.org/officeDocument/2006/relationships/slide" Target="/ppt/slides/slide19.xml" Id="Re15931b9b209414b" /><Relationship Type="http://schemas.openxmlformats.org/officeDocument/2006/relationships/slide" Target="/ppt/slides/slide20.xml" Id="R2a6c199cdb9247bf" /><Relationship Type="http://schemas.openxmlformats.org/officeDocument/2006/relationships/slide" Target="/ppt/slides/slide21.xml" Id="R538bcf9c620d431e" /><Relationship Type="http://schemas.openxmlformats.org/officeDocument/2006/relationships/slide" Target="/ppt/slides/slide22.xml" Id="R2d41d7167e124492" /><Relationship Type="http://schemas.openxmlformats.org/officeDocument/2006/relationships/slide" Target="/ppt/slides/slide23.xml" Id="R9f9d5e8ccf994fd6" /><Relationship Type="http://schemas.openxmlformats.org/officeDocument/2006/relationships/slide" Target="/ppt/slides/slide24.xml" Id="R284590907ca047ac" /><Relationship Type="http://schemas.openxmlformats.org/officeDocument/2006/relationships/slide" Target="/ppt/slides/slide25.xml" Id="R1b3419734c33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bc862d3ba14a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da69dc72f40e0" /><Relationship Type="http://schemas.openxmlformats.org/officeDocument/2006/relationships/notesMaster" Target="/ppt/notesMasters/notesMaster1.xml" Id="Rfe7a9a473aff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cc8b94e29443da" /><Relationship Type="http://schemas.openxmlformats.org/officeDocument/2006/relationships/notesMaster" Target="/ppt/notesMasters/notesMaster1.xml" Id="Rca2350bcb0a7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cd84e8df214819" /><Relationship Type="http://schemas.openxmlformats.org/officeDocument/2006/relationships/notesMaster" Target="/ppt/notesMasters/notesMaster1.xml" Id="R19202a9d512d43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0ab07f40424973" /><Relationship Type="http://schemas.openxmlformats.org/officeDocument/2006/relationships/notesMaster" Target="/ppt/notesMasters/notesMaster1.xml" Id="Reace8d521b23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48501837f045ca" /><Relationship Type="http://schemas.openxmlformats.org/officeDocument/2006/relationships/notesMaster" Target="/ppt/notesMasters/notesMaster1.xml" Id="R59aa39658d8145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db17edb7a44e6f" /><Relationship Type="http://schemas.openxmlformats.org/officeDocument/2006/relationships/notesMaster" Target="/ppt/notesMasters/notesMaster1.xml" Id="Rcba87540369043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0de8f6065449a5" /><Relationship Type="http://schemas.openxmlformats.org/officeDocument/2006/relationships/notesMaster" Target="/ppt/notesMasters/notesMaster1.xml" Id="R060a1ca0cb2f4f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566351991a4233" /><Relationship Type="http://schemas.openxmlformats.org/officeDocument/2006/relationships/notesMaster" Target="/ppt/notesMasters/notesMaster1.xml" Id="R64e238cf237c41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ca12f87a2e4093" /><Relationship Type="http://schemas.openxmlformats.org/officeDocument/2006/relationships/notesMaster" Target="/ppt/notesMasters/notesMaster1.xml" Id="Reba119ab03f646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3f2d6f6b004af7" /><Relationship Type="http://schemas.openxmlformats.org/officeDocument/2006/relationships/notesMaster" Target="/ppt/notesMasters/notesMaster1.xml" Id="Rc1088cace54b44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40f935277a4eb2" /><Relationship Type="http://schemas.openxmlformats.org/officeDocument/2006/relationships/notesMaster" Target="/ppt/notesMasters/notesMaster1.xml" Id="Rede980dbe87f47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66e8493fd34c77" /><Relationship Type="http://schemas.openxmlformats.org/officeDocument/2006/relationships/notesMaster" Target="/ppt/notesMasters/notesMaster1.xml" Id="R90dad6350ae24e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f396c932d74c2c" /><Relationship Type="http://schemas.openxmlformats.org/officeDocument/2006/relationships/notesMaster" Target="/ppt/notesMasters/notesMaster1.xml" Id="R2b690e9bcbb847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ce222f647e40a1" /><Relationship Type="http://schemas.openxmlformats.org/officeDocument/2006/relationships/notesMaster" Target="/ppt/notesMasters/notesMaster1.xml" Id="R508b9af0d8ef4f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0434c395014363" /><Relationship Type="http://schemas.openxmlformats.org/officeDocument/2006/relationships/notesMaster" Target="/ppt/notesMasters/notesMaster1.xml" Id="R77679cf9a5d24a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cca1244b77413f" /><Relationship Type="http://schemas.openxmlformats.org/officeDocument/2006/relationships/notesMaster" Target="/ppt/notesMasters/notesMaster1.xml" Id="Re176b94f5f6843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5d676752a24f77" /><Relationship Type="http://schemas.openxmlformats.org/officeDocument/2006/relationships/notesMaster" Target="/ppt/notesMasters/notesMaster1.xml" Id="R5fe1edf7f9614b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0d1fc7fece4a7e" /><Relationship Type="http://schemas.openxmlformats.org/officeDocument/2006/relationships/notesMaster" Target="/ppt/notesMasters/notesMaster1.xml" Id="R89542078c3dc41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4398c870454097" /><Relationship Type="http://schemas.openxmlformats.org/officeDocument/2006/relationships/notesMaster" Target="/ppt/notesMasters/notesMaster1.xml" Id="Ra9fdc960bace4a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90583fd0c34bed" /><Relationship Type="http://schemas.openxmlformats.org/officeDocument/2006/relationships/notesMaster" Target="/ppt/notesMasters/notesMaster1.xml" Id="R8dda98ab5d6845e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ccd7972f7a4016" /><Relationship Type="http://schemas.openxmlformats.org/officeDocument/2006/relationships/notesMaster" Target="/ppt/notesMasters/notesMaster1.xml" Id="Rbc5eab1e32f34d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eebf42e4e240a4" /><Relationship Type="http://schemas.openxmlformats.org/officeDocument/2006/relationships/notesMaster" Target="/ppt/notesMasters/notesMaster1.xml" Id="R061b6780579a4f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fdbcd0614b4d5e" /><Relationship Type="http://schemas.openxmlformats.org/officeDocument/2006/relationships/notesMaster" Target="/ppt/notesMasters/notesMaster1.xml" Id="R380f3b7b845f4b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b39b82f535446a" /><Relationship Type="http://schemas.openxmlformats.org/officeDocument/2006/relationships/notesMaster" Target="/ppt/notesMasters/notesMaster1.xml" Id="R9eaeb387483544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18e7f3b1c74243" /><Relationship Type="http://schemas.openxmlformats.org/officeDocument/2006/relationships/notesMaster" Target="/ppt/notesMasters/notesMaster1.xml" Id="R480d8e01e8f343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这份报告围绕用户手写的两个小项目展开。源码来自本次上传的 cuda.zip。卷积性能来自 ZIP 内六份 JSON。矩阵乘法性能来自此前对话中用户提供的 N=512 终端记录，明确区别于本次源码的 N=2048。未在本环境复跑 Windows 可执行文件。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讲解顺序遵循代码演进。Task 1 的线程索引、内存传输和错误处理会被 Task 2 复用。卷积新增内容是本报告的重点。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来源：源码：matmul/matmul.cu；conv2d/conv2d.cu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CPU 的 i、j 两层循环决定输出位置，k 循环完成点积。GPU 将外两层循环映射给线程，但保留每线程内部的长度 N 累加。当前源码 N=2048，float，每个矩阵占 16 MiB。三块 device 矩阵约 48 MiB。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来源：matmul.cu：10–25、132–162 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__global__ 声明 kernel，在 GPU 上运行，主机通过 &lt;&lt;&lt; &gt;&gt;&gt; 启动。sum 是每线程的局部变量，通常放在寄存器，最终由编译器决定。每个有效线程唯一写一个输出位置，因此这里不需要 atomic 或块内同步。技术参考：https://docs.nvidia.com/cuda/archive/13.0.0/cuda-c-programming-guide/index.html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来源：matmul.cu：59–75 行（省略函数参数列表）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N=2048 时 block=(16,16)，grid=(128,128)，共 16384 个 block 和 4194304 个逻辑线程。这不表示所有线程同时驻留。取 blockIdx=(2,3)、threadIdx=(5,7) 得 col=37、row=55，线性输出索引为 55*2048+37=112677。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来源：matmul.cu：61–65、97–98 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A.data() 指向主机 vector 内存，devA 是 device 指针。cudaMalloc 分配的是字节数，不负责把输入写入显存。devC 无需提前清零，因为每个有效元素都会被 kernel 完整赋值。表格中的参数省略用于突出流程。技术参考：https://docs.nvidia.com/cuda/archive/13.0.0/cuda-c-programming-guide/index.html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来源：matmul.cu：86–98、103–127 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kernel launch 对 host 通常是异步的。若直接在 launch 后读取主机时间，可能主要测到提交耗时。cudaDeviceSynchronize 等待此前设备工作完成。cudaGetLastError 检查并清除线程的最后 CUDA 错误，可发现启动配置错误；同步调用能报告异步执行错误。二者用途不同。此源码计时不含 cudaMalloc 和 H2D/D2H，但含 launch、等待等主机侧耗时，无显式预热或重复。技术参考：https://docs.nvidia.com/cuda/cuda-c-best-practices-guide/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来源：matmul.cu：77–84、100–110 行（简化 chrono 写法）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用户此前 2026-09-22 对话的实测记录：CPU time 134.866600 ms、CPU GFLOPS 1.990378、checksum -1176.456088；GPU time 1.530100 ms、GPU GFLOPS 175.436544、checksum -1176.455955；speedup 88.142344x。不是本次 N=2048 配置的复跑结果。GPU 比较基准是用户的单线程朴素 CPU 实现，不代表最优 CPU BLAS 性能。GFLOPS=2*N^3/(time_ms*1e6)。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来源：来源：你此前提供的 N=512 终端输出；本次 ZIP 未包含 matmul 测试日志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这页既复盘学习成果，也自然引出 Task 2 的计时和验证升级。checksum 是所有元素求和，位置错误或正负误差可能相互抵消，因此不能证明逐元素正确。代码目前未使用 shared memory、CUDA events 或 cuBLAS。N=2048 没有对应日志，报告不猜测耗时。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来源：依据：matmul.cu 全文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 H=W=4096，输出尺寸保持一致，步长为 1，越界输入等效为 0。K 正且奇数。源码没有翻转卷积核，因此严格称互相关，深度学习中常称卷积。本报告沿用项目命名“卷积”。无 batch/channel，不能当作完整多通道 CNN 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来源：conv2d.cu：118–193、263–326、430–485 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row、col、grid、block 与 Task 1 相同。变化在每线程的工作：从矩阵行列点积变为局部 K*K 邻域求和。sum 初始化为 0，跳过越界输入等价于零填充。奇数 K=2R+1 保证循环次数与 kernel 尺寸一致。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来源：conv2d.cu：168–193 行（核心循环节选）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只考虑内部 block 的 input 读取，不含 kernel 权重，不考虑编译器优化与 cache。Naive 源码层面的读取次数是 16*16*K*K；tile 协作从 global 加载 (16+K-1)^2 个 input。K3 为 2304/324=7.1111；K31 为 246016/2116=116.26465。shared 计算阶段仍有 K*K 次 shared input 读取和权重读取。不能将此比值等同实际 DRAM 流量下降或运行加速。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来源：根据 conv2d.cu 的 16×16 block 推算；非硬件流量测量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tile 是每个 block 独立的 shared memory。halo 是输出块外围半径 R 的输入边缘。tile_w=blockDim.x+2R，对于奇数 K 等于 blockDim.x+K-1。启动第三参数单位是字节。K3 324*4=1296 B；K31 2116*4=8464 B。资源上限和并发驻留限制依 GPU 而异。技术参考：https://docs.nvidia.com/cuda/archive/13.0.0/cuda-c-programming-guide/index.html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来源：conv2d.cu：265–280、347–360 行（节选与换行）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tid 将二维 threadIdx 展平为 0..255。加载 i 的线程是 i%256。K3 tile 324 个元素，tid0..67 加载两次，68..255 加载一次，总计324次。K31 tile2116个，tid0..67各9次，其余8次。每个 tile 元素恰好由一个线程写入。线程数量不会因为 tile 增大而自动增加。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来源：conv2d.cu：282–289 行；示例取 block=16×16、K=3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先用除法和取模把 tile 线性索引还原成 sy/sx，再用 block 输入原点偏移转换为全局坐标。减 R 使 tile 左上角对应输出块左上方 halo。首个 block 且 K3 时 origin=(0,0)，tile[0] 对应输入(-1,-1)，写0；tile坐标(1,1)对应input(0,0)，其线性下标19。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来源：conv2d.cu：288–300 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所有线程参加协作加载。同步确保该 block 在屏障前的相关内存写入对屏障后的线程可见。边缘 block 中不负责合法输出的线程仍可能有 tile 加载任务，因此不能把输出越界 return 随意移到加载前。应保留源码这种先协作加载和同步，再判断输出有效性的组织方式。这一点与 naive kernel 的提前 return 形成对比。__syncthreads 不是 grid 级同步。技术参考：https://docs.nvidia.com/cuda/archive/13.0.0/cuda-c-programming-guide/index.html#synchronization-functions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来源：conv2d.cu：286–307 行（结构化节选）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线程的中心在 tile 中是 ty+R、tx+R，遍历偏移i/j后得到 sy/sx。K3线程tx=0,ty=0中心tile(1,1)，访问tile的行列0..2，位于18x18范围。权重kernel仍是cudaMalloc出的dev_kernel指针。本次源码没有__constant__或cudaMemcpyToSymbol，不能将只读const float*误认为constant memory。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来源：conv2d.cu：307–322 行（核心循环节选）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events 记录默认 stream 上的时间点。start 与 stop 包围100次kernel启动，EventSynchronize(stop)等待stop完成，然后ElapsedTime返回毫秒并除以100。没有把malloc、拷贝和JSON保存放在此区间。小kernel批次仍可能包含GPU等待主机提交造成的间隔，因此准确表述为事件区间的平均每次时间，不宣称绝对纯kernel时钟。events 创建销毁都在计时范围之外。技术参考：https://docs.nvidia.com/cuda/cuda-c-best-practices-guide/#using-cuda-gpu-timers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来源：conv2d.cu：210–240、343–384 行（省略错误包装与预热）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卷积两GPU版本各预热5次并同步，再用events包围100次。CPU仍是单次chrono，不含保存JSON。与matmul不同的计时机制使两个项目不能直接用时间值做横向效率比较。预热可减弱首次执行等影响，但不保证温度频率一致，100次平均也不等于100个独立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来源：matmul.cu：100–110；conv2d.cu：217–240、351–384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实际match_output函数遍历所有元素，先判isfinite，再用double计算误差和容差阈值。atol=rtol=1e-4。先比较CPU与naive GPU，再比较naive GPU与shared GPU。建议也增加CPU与shared直接比较，因为两次容差判断不是严格的传递关系。附带JSON只保存H W K duration，不包含failed/max_error/通过状态，因此本报告不声称某次已通过。技术参考浮点背景：https://docs.nvidia.com/cuda/cuda-c-best-practices-guide/#numerical-accuracy-and-precision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来源：conv2d.cu：397–428、467–485 行；ZIP 未保存验证输出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所有记录 H=W=4096。duration由源码可知单位ms。GPU每项是events包围100次后的平均。CPU为单次chrono。源数据：K3 CPU210.7565 naive0.688158751 shared0.844052494；K31 CPU14652.7422 naive33.217926 shared27.9124775。表内speedup由未舍入源数计算。JSON未记录编译选项、设备型号和运行时频率，不能据此锁定性能瓶颈。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来源：数据：本次 ZIP 中 cpu / gpu / gpu_shared 的 K=3、K=31 六份 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K3 shared/naive-1=22.6537%左右，使用原始数据计算。K31 1-shared/naive约15.97%，naive/shared约1.190x。两个图独立刻度，均从0开始，目的是分别对比同K下的两GPU版本；不能直接比较两图柱高。所有数据已在前页提供。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来源：数据：gpu_K=3/31.json；gpu_shared_K=3/31.json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事实是K3变慢K31快1.19倍。shared版本既减少输入global读取，又把逐邻域边界判断挪到加载阶段，不能把全部性能差异归因某一种存储访问。可能的因素包括naive cache命中、加载及同步开销、共享内存索引运算、资源占用、权重访问、计算量。无profiling数据不能断言某因素主导。global空间访问不等于每次读DRAM。技术参考：https://docs.nvidia.com/cuda/cuda-c-best-practices-guide/#shared-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来源：依据：源码访问方式、实测 JSON；下述瓶颈解释为待验证假设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区分已实现和未来方向。constant memory、warp shuffle、streams、Tensor Core、cuBLAS均未使用。全局内存指针的const限定符不是constant memory声明。shared memory用于卷积输入tile；matmul未tiling。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来源：依据：本次 matmul.cu、conv2d.cu；“新增”均以源码为准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具体后续方向服务现有项目，不增加新主题教学。K只取正奇数，并检查动态shared内存合法范围。建议同一输入同一编译选项，多轮报告中位数和波动，保存硬件、block、warmup、repeat、验证状态与计时范围。constant memory或矩阵乘法tiling可作为后续项目扩展，但本报告不将其算作现有成果。技术参考：https://docs.nvidia.com/cuda/cuda-c-best-practices-guide/</a:t>
            </a:r>
          </a:p>
          <a:p xmlns:a="http://schemas.openxmlformats.org/drawingml/2006/main">
            <a:r>
              <a:t>参考文档：https://docs.nvidia.com/cuda/archive/13.0.0/cuda-c-programming-guide/index.html</a:t>
            </a:r>
          </a:p>
          <a:p xmlns:a="http://schemas.openxmlformats.org/drawingml/2006/main">
            <a:r>
              <a:t>资料索引：matmul/matmul.cu；conv2d/conv2d.cu；conv2d/cpu_K=3.json；conv2d/gpu_K=3.json；conv2d/gpu_shared_K=3.json；对应K=31的三份JSON。历史matmul日志为用户2026-09-22对话输出。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来源：建议实验，尚未实现；现有实现与数据仍以本次上传文件为准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64dea148b47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59fd1ca885474e" /><Relationship Type="http://schemas.openxmlformats.org/officeDocument/2006/relationships/slideLayout" Target="/ppt/slideLayouts/slideLayout1.xml" Id="R6e3b98c5deaf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3b98c5deaf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c7d1e0f8a4b11" /><Relationship Type="http://schemas.openxmlformats.org/officeDocument/2006/relationships/notesSlide" Target="/ppt/notesSlides/notesSlide1.xml" Id="R74c0d715703a4d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2c631fa394f71" /><Relationship Type="http://schemas.openxmlformats.org/officeDocument/2006/relationships/notesSlide" Target="/ppt/notesSlides/notesSlide2.xml" Id="R1a3cbfb391b54a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10d2683b449b6" /><Relationship Type="http://schemas.openxmlformats.org/officeDocument/2006/relationships/notesSlide" Target="/ppt/notesSlides/notesSlide3.xml" Id="Rae8c66c9c254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306c17285474d" /><Relationship Type="http://schemas.openxmlformats.org/officeDocument/2006/relationships/notesSlide" Target="/ppt/notesSlides/notesSlide4.xml" Id="R1b291862cb0244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b5024d55b4556" /><Relationship Type="http://schemas.openxmlformats.org/officeDocument/2006/relationships/notesSlide" Target="/ppt/notesSlides/notesSlide5.xml" Id="Re0dc28b962a8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7952e582f4b6e" /><Relationship Type="http://schemas.openxmlformats.org/officeDocument/2006/relationships/notesSlide" Target="/ppt/notesSlides/notesSlide6.xml" Id="Raac7d83305e143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7620b440346a4" /><Relationship Type="http://schemas.openxmlformats.org/officeDocument/2006/relationships/notesSlide" Target="/ppt/notesSlides/notesSlide7.xml" Id="R3e80c3e04ca84c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55d912d154fa2" /><Relationship Type="http://schemas.openxmlformats.org/officeDocument/2006/relationships/notesSlide" Target="/ppt/notesSlides/notesSlide8.xml" Id="R11cdbbe1483440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db0e0792a46c0" /><Relationship Type="http://schemas.openxmlformats.org/officeDocument/2006/relationships/notesSlide" Target="/ppt/notesSlides/notesSlide9.xml" Id="R0716492a63a942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63ada7be64a24" /><Relationship Type="http://schemas.openxmlformats.org/officeDocument/2006/relationships/notesSlide" Target="/ppt/notesSlides/notesSlide10.xml" Id="Ra81ea48c78464d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b8de6d93d429b" /><Relationship Type="http://schemas.openxmlformats.org/officeDocument/2006/relationships/notesSlide" Target="/ppt/notesSlides/notesSlide11.xml" Id="Rbe5477c200b443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855ae26844a5d" /><Relationship Type="http://schemas.openxmlformats.org/officeDocument/2006/relationships/notesSlide" Target="/ppt/notesSlides/notesSlide12.xml" Id="R2ee782312c8147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6334fff3a43a9" /><Relationship Type="http://schemas.openxmlformats.org/officeDocument/2006/relationships/notesSlide" Target="/ppt/notesSlides/notesSlide13.xml" Id="R37bbcaee58b84f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473830164214" /><Relationship Type="http://schemas.openxmlformats.org/officeDocument/2006/relationships/notesSlide" Target="/ppt/notesSlides/notesSlide14.xml" Id="R0ae78477d6e149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7c32ec97041fd" /><Relationship Type="http://schemas.openxmlformats.org/officeDocument/2006/relationships/notesSlide" Target="/ppt/notesSlides/notesSlide15.xml" Id="R8a5eb461c65a40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c450d9bf442d7" /><Relationship Type="http://schemas.openxmlformats.org/officeDocument/2006/relationships/notesSlide" Target="/ppt/notesSlides/notesSlide16.xml" Id="R760b6b8115d141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516b4758646d7" /><Relationship Type="http://schemas.openxmlformats.org/officeDocument/2006/relationships/notesSlide" Target="/ppt/notesSlides/notesSlide17.xml" Id="Rea3581603f964d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d6b644a7842a1" /><Relationship Type="http://schemas.openxmlformats.org/officeDocument/2006/relationships/notesSlide" Target="/ppt/notesSlides/notesSlide18.xml" Id="R2e0a0accc5e84a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13ac497a24433" /><Relationship Type="http://schemas.openxmlformats.org/officeDocument/2006/relationships/notesSlide" Target="/ppt/notesSlides/notesSlide19.xml" Id="R02d9c6c7d1ee4c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9856e446a4d23" /><Relationship Type="http://schemas.openxmlformats.org/officeDocument/2006/relationships/notesSlide" Target="/ppt/notesSlides/notesSlide20.xml" Id="R36f817f9a23946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fb2a2afca4038" /><Relationship Type="http://schemas.openxmlformats.org/officeDocument/2006/relationships/notesSlide" Target="/ppt/notesSlides/notesSlide21.xml" Id="Ref664b8703dd4d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504ee51c34223" /><Relationship Type="http://schemas.openxmlformats.org/officeDocument/2006/relationships/chart" Target="/ppt/slides/charts/chart1.xml" Id="Rde10e5cbe42a4b65" /><Relationship Type="http://schemas.openxmlformats.org/officeDocument/2006/relationships/chart" Target="/ppt/slides/charts/chart2.xml" Id="R25842e2e1cd3443f" /><Relationship Type="http://schemas.openxmlformats.org/officeDocument/2006/relationships/notesSlide" Target="/ppt/notesSlides/notesSlide22.xml" Id="Rb8b8aa8b6163421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0edcbfac64b0b" /><Relationship Type="http://schemas.openxmlformats.org/officeDocument/2006/relationships/notesSlide" Target="/ppt/notesSlides/notesSlide23.xml" Id="Rcdc78a957d004af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c90ac2e3844ff" /><Relationship Type="http://schemas.openxmlformats.org/officeDocument/2006/relationships/notesSlide" Target="/ppt/notesSlides/notesSlide24.xml" Id="R444bc485652640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f70c2ad5840c7" /><Relationship Type="http://schemas.openxmlformats.org/officeDocument/2006/relationships/notesSlide" Target="/ppt/notesSlides/notesSlide25.xml" Id="R354396dd5e7342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耗时（ms）</c:v>
          </c:tx>
          <c:spPr>
            <a:solidFill xmlns:a="http://schemas.openxmlformats.org/drawingml/2006/main">
              <a:srgbClr val="256EA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7C6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Naive</c:v>
                </c:pt>
                <c:pt idx="1">
                  <c:v>Shared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0.688158751</c:v>
                </c:pt>
                <c:pt idx="1">
                  <c:v>0.844052494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102C38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DB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6F7F4"/>
        </a:solidFill>
      </c:spPr>
    </c:plotArea>
    <c:plotVisOnly val="1"/>
  </c:chart>
  <c:spPr>
    <a:solidFill xmlns:a="http://schemas.openxmlformats.org/drawingml/2006/main">
      <a:srgbClr val="F6F7F4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耗时（ms）</c:v>
          </c:tx>
          <c:spPr>
            <a:solidFill xmlns:a="http://schemas.openxmlformats.org/drawingml/2006/main">
              <a:srgbClr val="256EA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7C6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Naive</c:v>
                </c:pt>
                <c:pt idx="1">
                  <c:v>Shared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33.217926</c:v>
                </c:pt>
                <c:pt idx="1">
                  <c:v>27.9124775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102C38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6F7F4"/>
        </a:solidFill>
      </c:spPr>
    </c:plotArea>
    <c:plotVisOnly val="1"/>
  </c:chart>
  <c:spPr>
    <a:solidFill xmlns:a="http://schemas.openxmlformats.org/drawingml/2006/main">
      <a:srgbClr val="F6F7F4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74D85-A60C-4F28-AD0F-7B58C5B9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52500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8FD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8FD9BC"/>
                </a:solidFill>
                <a:latin typeface="Noto Sans CJK SC"/>
                <a:ea typeface="Noto Sans CJK SC"/>
                <a:cs typeface="Noto Sans CJK SC"/>
              </a:rPr>
              <a:t>CUDA 项目学习报告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44600-3F81-4CAC-AD95-1EEDE76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矩阵乘法与二维卷积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133FA-36D9-4AA3-B871-66BDA8E8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Task 1  线程映射与 GPU 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62660-F35E-416E-81A2-4E3D849D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Task 2  共享内存与性能验证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B3E26-7375-43F3-B9D3-0AD18793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429500"/>
            <a:ext cx="1323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E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9CEC9"/>
                </a:solidFill>
                <a:latin typeface="Noto Sans CJK SC"/>
                <a:ea typeface="Noto Sans CJK SC"/>
                <a:cs typeface="Noto Sans CJK SC"/>
              </a:rPr>
              <a:t>基于 matmul.cu、conv2d.cu 与实际测试记录</a:t>
            </a:r>
          </a:p>
        </p:txBody>
      </p:sp>
    </p:spTree>
    <p:extLst>
      <p:ext uri="{BB962C8B-B14F-4D97-AF65-F5344CB8AC3E}">
        <p14:creationId xmlns:p14="http://schemas.microsoft.com/office/powerpoint/2010/main" val="1409172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0400B-39F3-4A2B-A0F6-DED15BDC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项目总览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3D42D-5E29-4F17-843F-2F92936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两个项目的知识递进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C68F4-2736-4C39-8B26-13380F4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源码：matmul/matmul.cu；conv2d/conv2d.cu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5AD4B-19BB-4E62-B000-2D830834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793750">
                <a:tc>
                  <a:txBody>
                    <a:bodyPr lIns="171450" tIns="13335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学习维度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Task 1：矩阵乘法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Task 2：二维卷积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793750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线程分工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一个线程计算一个 C 元素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一个线程计算一个输出像素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数据访问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直接读取 global memory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协作加载 tile，块内复用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93750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主机等待 GPU 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新增 __syncthreads()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计时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chrono + 设备同步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 events + 预热 + 重复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93750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输出 checksum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逐元素容差与非有限值检查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D2B78-063D-465A-9932-021A72B7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卷积仍复用 Task 1 的 dim3、二维索引、cudaMalloc、cudaMemcpy 和错误检查。</a:t>
            </a:r>
          </a:p>
        </p:txBody>
      </p:sp>
    </p:spTree>
    <p:extLst>
      <p:ext uri="{BB962C8B-B14F-4D97-AF65-F5344CB8AC3E}">
        <p14:creationId xmlns:p14="http://schemas.microsoft.com/office/powerpoint/2010/main" val="233257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72BCE-B7FA-41D7-8498-18261D86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1  矩阵乘法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521F6-D830-4AD6-95DC-766C254E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Task 1：把矩阵乘法拆成独立任务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774E-BBC5-4818-864F-4214033E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matmul.cu：10–25、132–162 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EC762-5EB6-4B2A-8AD6-07AA25FD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C9139-EE49-4877-AFEA-72EFB9EB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for (int i = 0; i &lt; N; i++)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D98D8-14D9-4F98-8DA0-2C96EB8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for (int j = 0; j &lt; N; j++)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F99FA-5AE4-4113-9EB5-8A44EFE5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float sum = 0.0f;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2895E-8E58-41D0-A3BF-29E6CA1E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for (int k = 0; k &lt; N; k++)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12A25-52B7-4248-98E9-A3205EA7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    sum += A[i * N + k]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3639D-850C-453C-8D92-C6C36417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         * B[k * N + j];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75473-94A7-4C2D-B4DD-54E1C0C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10F0B-7813-4B35-A11C-1B122A7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C[i * N + j] = sum;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7ABB4-5C52-4E32-8993-B37CB1D6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A6E64-28A0-4CA8-AE07-E443C9FE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05DCA-962A-4359-B9F0-4551E4F6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计算目标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E07E3-12D4-43E4-8F6B-9A42CC72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9082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C = A × B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输入、输出均为 N × 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F4DB5-6F8D-4453-BC33-C70413C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可并行的部分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0799D-6EF2-4A63-9B29-384691B3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434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不同 C[i,j] 互不依赖。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每个线程负责一个结果。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DCF4C-ABA3-409A-8BBB-8FC29D95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当前配置：N = 2048；float；每个矩阵 16 MiB。以上是源码参数与推算。</a:t>
            </a:r>
          </a:p>
        </p:txBody>
      </p:sp>
    </p:spTree>
    <p:extLst>
      <p:ext uri="{BB962C8B-B14F-4D97-AF65-F5344CB8AC3E}">
        <p14:creationId xmlns:p14="http://schemas.microsoft.com/office/powerpoint/2010/main" val="1960476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C4AC9-B97B-49B8-86FB-BAD4A20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1  线程映射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480DB-F2D1-4A9B-B4C8-AF63402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第一个 CUDA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C9FB6-2512-4138-BD36-7EECBF6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matmul.cu：59–75 行（省略函数参数列表）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DB20C-0017-422D-93DC-B1E4D427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B7BB9-F1D9-4251-A08A-25FD41E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__global__</a:t>
            </a: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void matrix_mul_gpu(/* ... */)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F0CDA-B908-47C0-B375-D7169E4A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3922B-8029-4535-8641-59FF5190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int col = blockIdx.x * blockDim.x + threadIdx.x;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3EC9A-2D10-4392-96D8-017D3CAE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int row = blockIdx.y * blockDim.y + threadIdx.y;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6FD09-99DC-459F-943E-5DFED4E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if (row &gt;= N || col &gt;= N) return;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6BF93-AC3C-4E0D-9237-B06F0C0D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CF76C-63C7-4193-A334-70916B5D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float sum = 0.0f;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A93DB-56AD-4684-B10E-7A6A6F91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for (int i = 0; i &lt; N; i++)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0173A-A63C-427F-B03D-ED20B9AB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sum += A[row * N + i] * B[i * N + col];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D622E-809C-492A-AB82-066619B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9E4F0-6DB6-46E1-AC06-9FFD3DB9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C[row * N + col] = sum;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7D7B3-A9BE-4F90-9B08-ACBC5045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FE358-E75D-4210-802E-75C3CCCE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43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__global__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90839-0499-441D-8D2C-3B987D46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9557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声明 GPU kernel。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多个线程执行同一段代码。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47B39-7405-44E8-BB7A-810D2FFE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row 与 col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0BAD5-5DD1-4CEE-BA04-6C85ED94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244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内置索引区分线程。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C 的写入位置互不重复。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B997D-1E86-436F-A99D-A2C1483A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GPU 并行化了输出位置；每个线程仍顺序执行 N 次乘加。</a:t>
            </a:r>
          </a:p>
        </p:txBody>
      </p:sp>
    </p:spTree>
    <p:extLst>
      <p:ext uri="{BB962C8B-B14F-4D97-AF65-F5344CB8AC3E}">
        <p14:creationId xmlns:p14="http://schemas.microsoft.com/office/powerpoint/2010/main" val="874377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509F1-F4FC-4CA3-B16C-6024FDE6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1  执行配置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DE55B-0644-449B-89C2-0EA09ED1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thread、block、grid 的具体对应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51483-1C0C-4956-A010-F8CD0F91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matmul.cu：61–65、97–98 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3DE4F-624F-49BF-86EA-BC32424D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987E1-8FBC-4C85-8316-7E424F5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62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dim3 block(16, 16);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08B7A-4BDF-4436-8C6F-F9810993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362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dim3 grid((N + block.x - 1) / block.x,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F9FC8-43AD-4AC9-8F60-4BA7A103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362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  (N + block.y - 1) / block.y);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62000" y="3667125"/>
          <a:ext xmlns:a="http://schemas.openxmlformats.org/drawingml/2006/main" cx="13716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6191250"/>
                <a:gridCol w="5334000"/>
              </a:tblGrid>
              <a:tr h="666750"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当前配置 / 示例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666750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 × 16 = 256 个线程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负责 16 × 16 个输出位置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grid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128 × 128 个 block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覆盖 N = 2048 的完整输出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666750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某个线程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blockIdx=(2,3)，threadIdx=(5,7)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col=37，row=55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边界检查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row &gt;= N || col &gt;= N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支持尺寸不能被 16 整除的情况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BD547-EB8B-46CE-B872-49ECF1BD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向上取整保证覆盖全部元素；逻辑线程总数不等于同时运行的线程数。</a:t>
            </a:r>
          </a:p>
        </p:txBody>
      </p:sp>
    </p:spTree>
    <p:extLst>
      <p:ext uri="{BB962C8B-B14F-4D97-AF65-F5344CB8AC3E}">
        <p14:creationId xmlns:p14="http://schemas.microsoft.com/office/powerpoint/2010/main" val="1130190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91A3E-61B3-48D1-9EA7-D53CF127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1  显存与传输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2E37-1B07-4038-827A-3E24CF3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Host 与 Device 的数据管理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341EB-7AAF-40C2-9098-C7EBAC7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matmul.cu：86–98、103–127 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FF65D-18D0-4564-BC0F-B5C1BC07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6762750"/>
                <a:gridCol w="4810125"/>
              </a:tblGrid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你的 API 调用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 分配显存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cudaMalloc(&amp;devA, bytes)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为 A、B、C 分别分配空间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 上传输入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cudaMemcpy(..., cudaMemcpyHostToDevice)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将 A、B 从主机复制到设备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  启动计算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matrix_mul_gpu&lt;&lt;&lt;grid, block&gt;&gt;&gt;(...)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GPU 读取 devA/devB，写入 devC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 下载结果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cudaMemcpy(..., cudaMemcpyDeviceToHost)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将 devC 复制到 C_gpu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 释放显存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cudaFree(devA / devB / devC)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释放本次分配的设备资源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0BCA8-FA24-462C-92BA-1D081CEF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bytes = N × N × sizeof(float)；cudaMalloc 只分配空间，输入还需要 cudaMemcpy。</a:t>
            </a:r>
          </a:p>
        </p:txBody>
      </p:sp>
    </p:spTree>
    <p:extLst>
      <p:ext uri="{BB962C8B-B14F-4D97-AF65-F5344CB8AC3E}">
        <p14:creationId xmlns:p14="http://schemas.microsoft.com/office/powerpoint/2010/main" val="319114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DC153-CD11-43A1-8244-CFD1D78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1  GPU 计时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085CB-0B33-4EE2-AF72-1658BC57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异步启动、同步与错误检查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D7750-E734-4489-B9F8-33C15E65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matmul.cu：77–84、100–110 行（简化 chrono 写法）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BCB59-ADB6-48F3-BA32-909CFA69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E24FB-1460-4978-8C08-49E26815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auto start = steady_clock::now();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70DBA-4D89-4AE2-B614-B547162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C7570-EA46-4C39-8F8E-1622526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matrix_mul_gpu&lt;&lt;&lt;grid, block&gt;&gt;&gt;(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13E1E-1F71-4ACA-A0C8-51EC8565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devA, devB, devC, N);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3679F-CEBF-4F10-A9F3-35BD7915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2BABA-AA68-4D72-B29A-E26BAB58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cuda_check(cudaGetLastError());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E5D3A-B9EF-4C37-A54B-1DE8A0A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cuda_check(</a:t>
            </a:r>
            <a:r>
              <a:rPr sz="2025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cudaDeviceSynchronize</a:t>
            </a: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());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88369-1DD7-43BB-9DF9-042DE8D2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455A4-3C92-4B24-9FB1-B346025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auto stop = steady_clock::now();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AC846-87E5-4E6A-B688-3B8C73AB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为什么必须等待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BFE32-1DC3-48B7-AE68-80885D91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9082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主机提交 kernel 后可继续运行。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同步后再结束主机计时。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5D43A-AE3F-48B5-9896-EE248E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672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两层错误检查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B024D-6CE4-47B6-82F8-5756154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196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GetLastError：检查启动等错误。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DeviceSynchronize：等待完成，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并检查异步执行错误。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FEA70-717F-4B3C-9DE3-18030FBF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这里测量“主机观察到的 launch 至完成时间”，且未包含数据传输。</a:t>
            </a:r>
          </a:p>
        </p:txBody>
      </p:sp>
    </p:spTree>
    <p:extLst>
      <p:ext uri="{BB962C8B-B14F-4D97-AF65-F5344CB8AC3E}">
        <p14:creationId xmlns:p14="http://schemas.microsoft.com/office/powerpoint/2010/main" val="47179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DB2A7-6D58-4499-974D-53AD266C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1 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01827-2566-430D-8D07-2A34049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矩阵乘法的已有运行结果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BBBFF-613A-4064-9908-9A581803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来源：你此前提供的 N=512 终端输出；本次 ZIP 未包含 matmul 测试日志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4C019-DCB4-4B32-A671-6672E67F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9144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29000"/>
                <a:gridCol w="3429000"/>
              </a:tblGrid>
              <a:tr h="809625"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CPU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GPU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80962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耗时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134.866600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1.530100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吞吐量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1.990378 GFLOPS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175.436544 GFLOPS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80962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Checksum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−1176.456088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−1176.455955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A7FEB-A45F-43D7-96C1-B47AEBB8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88.14×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8680-D1AC-41E7-9C3C-DA5883BF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290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该次记录的 CPU / GPU 耗时比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165E9-DDEA-4934-BB61-9AB9F1B8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GFLOPS ≈ 2N³ / (耗时毫秒 × 10⁶)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1DFF7-9538-43C3-8B09-99AD428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历史记录 N=512；本次源码 N=2048。加速比仅相对这份朴素 CPU 实现。</a:t>
            </a:r>
          </a:p>
        </p:txBody>
      </p:sp>
    </p:spTree>
    <p:extLst>
      <p:ext uri="{BB962C8B-B14F-4D97-AF65-F5344CB8AC3E}">
        <p14:creationId xmlns:p14="http://schemas.microsoft.com/office/powerpoint/2010/main" val="1424653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8AB9D-78D2-419F-AAEE-94DDFBA1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1  项目小结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E2B79-BC2A-455E-B2B3-4B7FC5C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Task 1 已完成什么，还缺什么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91ED-B64E-4810-9FF9-551D6EC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依据：matmul.cu 全文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E7776-E426-4879-8596-5A00FDA5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BF2D-BDCD-40CB-ABCE-82E065B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已经建立的 CUDA 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F3E03-D619-4AE4-BA61-55E86E87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二维线程索引与越界保护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Host / Device 内存管理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kernel 启动与设备同步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错误检查、耗时和 GFLOPS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59C90-9BE6-4FC0-A8A2-3D41113C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6E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EA3"/>
                </a:solidFill>
                <a:latin typeface="Noto Sans CJK SC"/>
                <a:ea typeface="Noto Sans CJK SC"/>
                <a:cs typeface="Noto Sans CJK SC"/>
              </a:rPr>
              <a:t>下一项目补上的能力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00574-988C-4BC4-8FB8-DFA95C27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用逐元素误差替代单一 checksum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用 events 测量 GPU 时间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用预热和重复减小偶然波动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让同一个 block 的线程共享输入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63EDA-0C7F-4DF2-AB17-EB5AB38A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本次 matmul 仍是 naive 版本，没有使用 shared memory 或库函数矩阵乘法。</a:t>
            </a:r>
          </a:p>
        </p:txBody>
      </p:sp>
    </p:spTree>
    <p:extLst>
      <p:ext uri="{BB962C8B-B14F-4D97-AF65-F5344CB8AC3E}">
        <p14:creationId xmlns:p14="http://schemas.microsoft.com/office/powerpoint/2010/main" val="1260589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94D60-3FB6-4866-A3F3-23DDFDC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二维卷积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FDE6C-5F9A-4EF3-8DDF-BEAD379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Task 2：同一个卷积，三种实现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265C4-D488-4640-8C93-3A588E9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conv2d.cu：118–193、263–326、430–485 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14A2F-AA97-41AC-84B6-C94A6FEC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95750"/>
                <a:gridCol w="5715000"/>
              </a:tblGrid>
              <a:tr h="845344"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计算分工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输入读取方式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845344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conv2d_cpu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CPU 遍历所有输出像素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读取每个像素的 K × K 邻域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conv2d_gpu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一个线程计算一个像素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直接读取全局内存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845344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conv2d_gpu_shared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一个线程计算一个像素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先加载 tile，再从共享内存读取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0CCC0-2FB3-4420-A223-D878B417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4096 × 4096 输入与输出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87FEE-80FB-4B5A-8A15-2F494D3C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9125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单通道、步长 1、零填充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4530F-C694-4374-B5EC-B93962CC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源码不翻转 kernel，严格说是互相关；这里沿用项目中的“卷积”名称。</a:t>
            </a:r>
          </a:p>
        </p:txBody>
      </p:sp>
    </p:spTree>
    <p:extLst>
      <p:ext uri="{BB962C8B-B14F-4D97-AF65-F5344CB8AC3E}">
        <p14:creationId xmlns:p14="http://schemas.microsoft.com/office/powerpoint/2010/main" val="1103325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22ADA-E96A-4CF9-BE45-F08D2B7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复用 Task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A90BD-0EBE-4830-B677-31DAC115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Naive 卷积：线程映射保持不变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F5AC3-C623-431D-A14A-75378E6F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conv2d.cu：168–193 行（核心循环节选）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52524-6E00-4A20-BFF0-2B8F37D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C13DC-3401-492B-8A2E-39F6AA0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R = K / 2;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05FB1-194D-4A8F-9AE9-AA878B13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float sum = 0.0f;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56685-5B89-4406-AA77-924977D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for (int i = -R; i &lt;= R; i++)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CC0EE-CE75-407F-AB6C-73787A6F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for (int j = -R; j &lt;= R; j++)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751AB-CA21-4A75-B092-4AE474F7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int row1 = row + i;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53814-1665-48B6-88F3-BE60073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int col1 = col + j;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55DB5-2259-4D98-B851-CE55BCB2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if (row1 &gt; -1 &amp;&amp; row1 &lt; H &amp;&amp;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10065-9BD6-4662-B6CA-4C5F8F77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    col1 &gt; -1 &amp;&amp; col1 &lt; W)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E0416-84A1-41B1-A574-235E206F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    sum += input[row1 * W + col1]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8D38B-A435-4DF6-8242-2DAA1A9F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         * kernel[(i+R)*K + j+R];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57C82-4C81-46F6-BE15-624A68D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BA44D-7981-425D-B52D-1D7DF326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87925-9278-49D9-A8F1-EF836E91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30BBF-F852-4FA5-8FF6-1A16D56F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保留的基础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228B9-D09D-49F2-9917-C5FD3700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一个线程对应一个输出。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先检查输出索引是否合法。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398DF-7F2C-4D11-9D5C-DAEF4895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新增的访问模式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F8D79-FA6B-4BFE-AAE6-9FD7B51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434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每个线程访问 K × K 邻域。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相邻输出的邻域大量重叠。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5CD12-7D54-4667-AA00-DE6B178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K=3 时，每个内部输出需要 9 次输入读取；K=31 时，需要 961 次。</a:t>
            </a:r>
          </a:p>
        </p:txBody>
      </p:sp>
    </p:spTree>
    <p:extLst>
      <p:ext uri="{BB962C8B-B14F-4D97-AF65-F5344CB8AC3E}">
        <p14:creationId xmlns:p14="http://schemas.microsoft.com/office/powerpoint/2010/main" val="1822778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E2581-80C3-4018-8A8B-064AC2B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为什么引入 tile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D258-780A-4598-86C3-72042A3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重叠邻域提供了输入复用机会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7A680-13E7-436A-99A8-F9235F5C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根据 conv2d.cu 的 16×16 block 推算；非硬件流量测量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B52D-D6DC-454F-9EE1-56F1429B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3810000"/>
                <a:gridCol w="3810000"/>
              </a:tblGrid>
              <a:tr h="838200"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每个内部 block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 = 3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 = 31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838200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输出数量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 × 16 = 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 × 16 = 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Naive 输入读取次数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256 × 9 = 2,304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256 × 961 = 246,016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838200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Tile 输入元素数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 × 18 = 324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46 × 46 = 2,116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理想输入读取次数比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7.11×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116.26×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94565-7EB8-4B96-8111-3B29123F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这是源码层面的 input 读取次数估算；缓存、权重访问和额外开销会改变实际收益。</a:t>
            </a:r>
          </a:p>
        </p:txBody>
      </p:sp>
    </p:spTree>
    <p:extLst>
      <p:ext uri="{BB962C8B-B14F-4D97-AF65-F5344CB8AC3E}">
        <p14:creationId xmlns:p14="http://schemas.microsoft.com/office/powerpoint/2010/main" val="440379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6F91A-21CA-46C6-B279-6E8E72FE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新知识：shared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253D0-9A5C-409B-AD17-F7ADCF54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动态共享内存与 halo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DFAD7-F23B-408C-A284-837F8DF7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conv2d.cu：265–280、347–360 行（节选与换行）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AF27C-306B-441C-A441-EEC64502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2D4EF-467B-4E86-849A-B7D12933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extern </a:t>
            </a:r>
            <a:r>
              <a:rPr sz="1875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__shared__</a:t>
            </a: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float tile[];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7CA59-88F2-4A24-A7DA-17B82BDD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8E5B4-511B-468F-BB68-DCBFB07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tile_w = blockDim.x + K - 1;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E8368-9657-459D-B748-09688FBD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tile_h = blockDim.y + K - 1;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5715C-54B4-4E65-88A3-1816B3EB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6896B-3F63-4BE4-93DF-44E27CD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size_t shared_bytes =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3396E-B561-4CEF-82C0-9F8606C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(size_t)(block.x + K - 1) 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F9008-2A50-42D2-A6B5-A1F690BF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(block.y + K - 1) * sizeof(float);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CFD3F-3BD0-4259-8A77-3FB46C8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6C9DF-94C6-4AB0-AAE0-4D293837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conv2d_gpu_shared&lt;&lt;&lt;grid, block, shared_bytes&gt;&gt;&gt;(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8FB3B-9034-43F3-8766-F4981D7B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dev_input, dev_kernel, dev_output, H, W, K);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2AAC8-FB33-4C6C-AFB6-36CCD5FA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为什么比 16 × 16 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8EF2E-C63E-4D55-A6FC-9AFCEA0A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9082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边缘输出也需要周围输入。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四周各补 R 个元素。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5021E-AB74-4136-8529-931CEA36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38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每个 block 的占用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C9378-DF4A-42FE-8935-D1117417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9107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K=3：18×18，1,296 B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K=31：46×46，8,464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04936-EEFA-4772-AE80-BDBCBBCA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第三个启动参数指定动态共享内存字节数；所有 block 各有自己的 tile。</a:t>
            </a:r>
          </a:p>
        </p:txBody>
      </p:sp>
    </p:spTree>
    <p:extLst>
      <p:ext uri="{BB962C8B-B14F-4D97-AF65-F5344CB8AC3E}">
        <p14:creationId xmlns:p14="http://schemas.microsoft.com/office/powerpoint/2010/main" val="1538492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38E1D-A081-4147-9029-0187A58E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新知识：协作加载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03F08-3089-402A-9D50-D0E779F2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thread_count 如何分配加载任务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F80BD-C7A7-415A-B323-BA3642E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conv2d.cu：282–289 行；示例取 block=16×16、K=3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585EC-0A27-4D2F-9962-A3A42CD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CE738-DA92-4E15-80A0-FB48D7BC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tid = ty * blockDim.x + tx;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CBA0F-B5D1-40F3-A7E6-D4D518F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</a:t>
            </a:r>
            <a:r>
              <a:rPr sz="2100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thread_count</a:t>
            </a: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= blockDim.x * blockDim.y;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31F55-5EF1-460A-938D-965061D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for (int i = tid; i &lt; tile_w * tile_h;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0D9BF-7B41-409D-AA7A-78A68BC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i += </a:t>
            </a:r>
            <a:r>
              <a:rPr sz="2100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thread_count</a:t>
            </a:r>
            <a:r>
              <a:rPr sz="21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) { /* load tile[i] */ }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" y="4048125"/>
          <a:ext xmlns:a="http://schemas.openxmlformats.org/drawingml/2006/main" cx="137160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191500"/>
                <a:gridCol w="2857500"/>
              </a:tblGrid>
              <a:tr h="561975"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线程 tid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加载的 tile 线性索引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次数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5619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0、256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67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67、323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5619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AD07C-22F7-49CF-BDAF-6EE501EA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256 个线程共同搬运 324 个元素；thread_count 是下一轮任务的步长。</a:t>
            </a:r>
          </a:p>
        </p:txBody>
      </p:sp>
    </p:spTree>
    <p:extLst>
      <p:ext uri="{BB962C8B-B14F-4D97-AF65-F5344CB8AC3E}">
        <p14:creationId xmlns:p14="http://schemas.microsoft.com/office/powerpoint/2010/main" val="5433950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8D381-4CEE-4DF7-A7A2-BFE74277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新知识：halo 与零填充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A0F5-C587-42E3-849D-71067A7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从 tile 坐标映射回输入坐标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672B0-D7DE-4BC5-AF73-BEFF9372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conv2d.cu：288–300 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DA6FA-B6BE-40C1-BFAA-ACAF705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03D74-F668-49E3-B510-F288EED8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sy = i / tile_w;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22AB5-F453-4C1C-A234-80678EB3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sx = i % tile_w;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E8654-0B67-494C-855E-C47403A7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B8E29-5477-42E1-A1CA-46B21ED5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iy = origin_y + sy - R;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50BB3-05D6-4E32-A7B6-CD70178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int ix = origin_x + sx - R;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3582-6A28-4730-9598-D67808AE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7D190-06CD-4999-B64D-DDD3DB2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if (iy &gt; -1 &amp;&amp; iy &lt; H &amp;&amp; ix &gt; -1 &amp;&amp; ix &lt; W) 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C46FE-6ADA-42B1-B7B6-DC528694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tile[i] = input[iy * W + ix];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6C1AC-98DF-4BFE-9DEE-25EB675D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 else 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5385D-86CC-4655-93E1-4CBFB890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tile[i] = 0.0f;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4762B-DB85-4B7C-AB73-CE93351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EC8E8-3D44-40C3-820E-7B769060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减去 R 的原因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CE283-2B19-488D-9F9E-606CEEC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9082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tile 原点包含外围 halo，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比输出块原点更靠左上。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9DA6B-5094-443D-AB8F-3FAC677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首个 block，K=3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5FD4B-7583-48F0-83F6-FA27BFE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434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tile(0,0) 对应 input(−1,−1)。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越界写 0。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tile(1,1) 对应 input(0,0)。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566D3-E007-4FB8-A4BF-6A5E200F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加载时统一处理边界，计算阶段可直接访问已填好的 tile。</a:t>
            </a:r>
          </a:p>
        </p:txBody>
      </p:sp>
    </p:spTree>
    <p:extLst>
      <p:ext uri="{BB962C8B-B14F-4D97-AF65-F5344CB8AC3E}">
        <p14:creationId xmlns:p14="http://schemas.microsoft.com/office/powerpoint/2010/main" val="17537769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A037A-6566-47F9-BD5D-EB1A418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新知识：块内同步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32BA0-8353-476F-AF59-AFA7E4B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__syncthreads() 保证先写完，再读取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6EE82-A471-49E4-BF17-F9FF09D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conv2d.cu：286–307 行（结构化节选）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41631-2F52-47B2-9C4D-DC469A19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0BE2E-2106-4093-BCD3-4762578E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for (int i = tid; i &lt; tile_w * tile_h;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F8207-04C4-4EDA-9AA0-E0F7F993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i += </a:t>
            </a:r>
            <a:r>
              <a:rPr sz="2025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thread_count</a:t>
            </a: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C6123-0C41-4636-972C-B0F73D8A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526872"/>
                </a:solidFill>
                <a:latin typeface="DejaVu Sans Mono"/>
                <a:ea typeface="DejaVu Sans Mono"/>
                <a:cs typeface="DejaVu Sans Mono"/>
              </a:rPr>
              <a:t>    // load input or zero into tile[i]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6CF3A-C38D-4ACF-B43D-A28E5797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F4FA7-5BD9-4FB9-9A5C-C22EFA9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CF275-7CB5-47E5-91E6-8F4E734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__syncthreads</a:t>
            </a: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A725C-60E0-4A2A-ABB3-D1A74088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62A32-9D69-4F40-8883-FAAEB513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if (row &lt; H &amp;&amp; col &lt; W)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89C3F-6362-4FEC-B95F-366C10D4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526872"/>
                </a:solidFill>
                <a:latin typeface="DejaVu Sans Mono"/>
                <a:ea typeface="DejaVu Sans Mono"/>
                <a:cs typeface="DejaVu Sans Mono"/>
              </a:rPr>
              <a:t>    // read tile and calculate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420CD-3583-4603-A5F0-4639E47A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9075A-F375-4D37-8886-58A14C7E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依赖来自其他线程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B96A2-58A4-4BA6-83F3-27E6B927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9082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某线程计算时会读取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其他线程刚写入的 tile 元素。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D3BD0-3394-499E-AF8A-7D78617B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38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顺序必须保留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E26DB-4D92-445E-AD45-235E560A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9107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先协作加载，再块内同步。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最后只让有效线程写输出。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DBBB7-BF0D-48BC-ADA3-DEDF6A00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不要把 naive kernel 的提前 return 直接搬到协作加载前；边界线程也可能负责搬运。</a:t>
            </a:r>
          </a:p>
        </p:txBody>
      </p:sp>
    </p:spTree>
    <p:extLst>
      <p:ext uri="{BB962C8B-B14F-4D97-AF65-F5344CB8AC3E}">
        <p14:creationId xmlns:p14="http://schemas.microsoft.com/office/powerpoint/2010/main" val="12015053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DC84C-C86B-41AB-96A6-32BCA6C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新知识：块内数据复用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61C6D-B525-4B39-B9B4-B514DFAF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计算阶段从 shared memory 复用输入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FA6AB-AFAA-477C-BD77-513D58FF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conv2d.cu：307–322 行（核心循环节选）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8E2CD-BF8F-4104-BE21-8FF55AD6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0E307-8514-4AA2-836D-EFB38C37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float sum = 0.0f;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BBDBB-EB13-4DE7-BACF-9988706E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for (int i = -R; i &lt;= R; i++)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A9016-E55F-4F35-8482-E0F0840A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for (int j = -R; j &lt;= R; j++)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31AF8-8D84-42B7-B8CE-47547020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int sy = ty + R + i;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989C2-CA2F-4199-81A8-EEEDEEAF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int sx = tx + R + j;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97675-BA39-4D52-95BF-6FD0F9C2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48F6D-7B1D-4493-8894-1F0FBD45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sum += tile[sy * tile_w + sx]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F003E-5356-4970-8526-304D8E90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         * kernel[(i + R) * K + j + R];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A42CE-996B-4DD7-A00F-D86D6DF7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7B236-B09F-497F-AC46-16B355D1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35718-3B3C-48F2-9A41-26A9FB24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output[row * W + col] = sum;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48AD2-DB40-4B09-AFCA-390A8F58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中心坐标加 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B7BEE-5C6B-41B1-8CE0-23FE0E66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9082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线程的输出位置在 tile 中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需要跳过外围 halo。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D196E-B859-4649-A319-BAE9B465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这次优化的范围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A5CDB-5916-430C-B7EA-3B449D5A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244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input：改从 tile 读取。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kernel：仍通过全局内存指针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访问，未使用 constant memory。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5A4D6-C9DD-47A0-AB3B-13D30A1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相同输入元素可被同一个 block 中多个输出线程重复使用。</a:t>
            </a:r>
          </a:p>
        </p:txBody>
      </p:sp>
    </p:spTree>
    <p:extLst>
      <p:ext uri="{BB962C8B-B14F-4D97-AF65-F5344CB8AC3E}">
        <p14:creationId xmlns:p14="http://schemas.microsoft.com/office/powerpoint/2010/main" val="20538373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82E17-C2A2-4C30-8DBA-41F27088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新知识：GPU 计时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EC03E-2BF7-48FF-ADDD-E8A6CD3F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CUDA events 测量设备时间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847D5-2D89-43D7-8C6B-DBA55D11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conv2d.cu：210–240、343–384 行（省略错误包装与预热）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6DA5E-9D56-4476-A671-929E3B3F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E8BA4-D3B1-459B-BD8B-471E3AB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cudaEventCreate(&amp;start);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5AED3-65F8-4CB0-A116-CFA6726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cudaEventCreate(&amp;stop);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E1CC9-0027-4181-9AB6-0AE61605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5A108-41F6-4942-BAD8-2215922B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cudaEventRecord</a:t>
            </a: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(start);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24A65-AF51-46EE-8B62-397080BB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for (int i = 0; i &lt; repeat; i++) 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2B9A1-ADB1-4DEC-A019-5A87DD6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conv2d_gpu&lt;&lt;&lt;grid, block&gt;&gt;&gt;(/* ... */);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AE56E-19B5-45AB-8D40-46931984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9E017-2F3C-4E0C-A561-7202B9A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cudaEventRecord</a:t>
            </a: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(stop);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EE1B4-FE77-41DE-834E-1214C7E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cudaEventSynchronize(stop);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074E2-717A-49AB-819B-55108CD4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177C65"/>
                </a:solidFill>
                <a:latin typeface="DejaVu Sans Mono"/>
                <a:ea typeface="DejaVu Sans Mono"/>
                <a:cs typeface="DejaVu Sans Mono"/>
              </a:rPr>
              <a:t>cudaEventElapsedTime</a:t>
            </a: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(&amp;duration, start, stop);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2EC01-ADDD-418B-B401-0F2A3F00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duration = duration / repeat;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5D5A2-EDE9-4CD7-A4FC-97BA2166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5C613-D560-42E0-BF78-FD6C849B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cudaEventDestroy(start);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9B905-8283-4420-9EEA-9AD3B97F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03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cudaEventDestroy(stop);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5203E-9915-42C8-B2D0-1035D7A4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记录时间点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53A08-EB20-4391-87A6-78F6C5C3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start 在计算前，stop 在计算后。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两者位于同一默认 stream。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891F3-C03A-4725-843F-8EFE9605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38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结果单位为毫秒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AA907-670C-4305-A85D-79E9D027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9107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等待 stop 完成后读取时间。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100 次总耗时除以 100。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0C8EA-AAB2-4344-B129-D0F9A9B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源码所有 CUDA API 均使用 cuda_check 包装；本页为便于阅读省略包装。</a:t>
            </a:r>
          </a:p>
        </p:txBody>
      </p:sp>
    </p:spTree>
    <p:extLst>
      <p:ext uri="{BB962C8B-B14F-4D97-AF65-F5344CB8AC3E}">
        <p14:creationId xmlns:p14="http://schemas.microsoft.com/office/powerpoint/2010/main" val="21024290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B6A6E-7FE8-4412-89E6-C3EC7515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新知识：实验方法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FEE43-7B03-4195-8A84-06931CDC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预热与重复让性能对比更稳定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E9D7A-EF3A-42FD-9820-89FEC3B4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matmul.cu：100–110；conv2d.cu：217–240、351–384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FDC28-6062-4433-9A76-B5D38FE3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4381500"/>
                <a:gridCol w="4857750"/>
              </a:tblGrid>
              <a:tr h="777875">
                <a:tc>
                  <a:txBody>
                    <a:bodyPr lIns="171450" tIns="13335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计时条件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Task 1 GPU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Task 2 GPU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777875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计时工具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std::chrono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 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预热次数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无显式预热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次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77875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计时执行次数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 次，报告平均值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主机与设备传输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未计入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未计入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77875"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解释范围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主机 launch 至同步完成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0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设备事件区间平均耗时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74EC6-C722-4795-8B54-C89B920D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GPU 与 CPU 比较的是当前计算实现；要评估一次完整调用，还需另测端到端耗时。</a:t>
            </a:r>
          </a:p>
        </p:txBody>
      </p:sp>
    </p:spTree>
    <p:extLst>
      <p:ext uri="{BB962C8B-B14F-4D97-AF65-F5344CB8AC3E}">
        <p14:creationId xmlns:p14="http://schemas.microsoft.com/office/powerpoint/2010/main" val="13729030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39C93-D020-408B-B334-3EED60E3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新知识：浮点结果验证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DE80E-11B2-4BC6-9CAF-DBADE77F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逐元素容差检查比 checksum 更可靠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3DFC1-1200-48E2-85AD-E9E8909A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conv2d.cu：397–428、467–485 行；ZIP 未保存验证输出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4F97F-FF84-4D40-972C-6D6B6D3F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82615-2D98-41F2-843B-9C3AB5C4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if (!std::isfinite(cpu[i]) ||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53463-94E4-425D-A1F6-720B1D8B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!std::isfinite(gpu[i]))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70CBA-EE71-4E98-82C1-4DCA356B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++failed;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FAD99-950B-4BE2-B3FB-10190DEA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continue;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5975C-CC0A-49DD-915E-EE0FB547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7999F-945F-4D01-BF91-B1F61612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FBDFF-5981-4325-82BF-B9652FCE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double error = std::abs(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4E941-A219-4FAC-857C-03FD42A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static_cast&lt;double&gt;(cpu[i]) - gpu[i]);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D51DD-1903-4C26-B88A-DEDEACE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double limit = atol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A6368-CD82-475E-A2F9-E594484B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    + rtol * std::abs(static_cast&lt;double&gt;(cpu[i]));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477A0-D352-4979-B021-25D9C7AB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6BB07-5472-4912-8BB4-6C6DB49F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02C38"/>
                </a:solidFill>
                <a:latin typeface="DejaVu Sans Mono"/>
                <a:ea typeface="DejaVu Sans Mono"/>
                <a:cs typeface="DejaVu Sans Mono"/>
              </a:rPr>
              <a:t>if (error &gt; limit) ++failed;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F842D-139E-4211-A795-D79B3B5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43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绝对与相对容差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9EDD2-11D4-4158-80B5-79CFF9E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9557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atol = 1e−4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rtol = 1e−4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误差 ≤ atol + rtol × |参考值|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D3F0E-0FD1-4DAC-8ABC-5628598C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053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源码的两组比较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DA889-E276-47C9-AEE7-77EA9A4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CPU 对 naive GPU。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naive GPU 对 shared GPU。</a:t>
            </a:r>
          </a:p>
          <a:p xmlns:a="http://schemas.openxmlformats.org/drawingml/2006/main">
            <a:pPr>
              <a:def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同时检查 NaN / Inf。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7AE00-EC6A-4479-9002-E77D76C7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JSON 没有保存误差或通过状态；可增加 CPU 对 shared 的直接校验并保存结果。</a:t>
            </a:r>
          </a:p>
        </p:txBody>
      </p:sp>
    </p:spTree>
    <p:extLst>
      <p:ext uri="{BB962C8B-B14F-4D97-AF65-F5344CB8AC3E}">
        <p14:creationId xmlns:p14="http://schemas.microsoft.com/office/powerpoint/2010/main" val="15534363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42AE9-AB2B-42F0-9E2A-C22C395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实验记录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854A2-041F-41AC-AAED-15EEE9D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卷积的实际测试结果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388C3-44AD-4921-90DB-93741859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数据：本次 ZIP 中 cpu / gpu / gpu_shared 的 K=3、K=31 六份 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B689F-7D68-4408-8DA6-06059177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3810000"/>
                <a:gridCol w="3810000"/>
              </a:tblGrid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 = 3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 = 31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CPU 耗时 /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210.7565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14652.7422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Naive GPU / ms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0.688159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33.217926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Shared GPU /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0.844052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27.912478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CPU / Naive GPU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306.26×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441.11×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69938"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Naive / Shared GPU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0.815×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17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1.190×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1BB1D-BADE-490C-AC9B-5E98115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加速比定义：旧实现耗时 ÷ 新实现耗时；小于 1 表示新实现更慢。</a:t>
            </a:r>
          </a:p>
        </p:txBody>
      </p:sp>
    </p:spTree>
    <p:extLst>
      <p:ext uri="{BB962C8B-B14F-4D97-AF65-F5344CB8AC3E}">
        <p14:creationId xmlns:p14="http://schemas.microsoft.com/office/powerpoint/2010/main" val="13122008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1EA37-C488-4BF9-8B08-1D574A20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性能对比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17CE4-A77C-4E4A-84D7-24F582C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小核变慢，大核获得有限加速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8C8D1-B19D-4655-9891-8D1649B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数据：gpu_K=3/31.json；gpu_shared_K=3/31.json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EB8A8-8D1B-4E7A-B128-20ACA7E1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3D930-9D1E-465F-9868-B67776D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K = 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62000" y="2905125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10e5cbe42a4b6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3A19D-10ED-4398-93F0-42E1CC46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86A27"/>
                </a:solidFill>
                <a:latin typeface="Noto Sans CJK SC"/>
                <a:ea typeface="Noto Sans CJK SC"/>
                <a:cs typeface="Noto Sans CJK SC"/>
              </a:rPr>
              <a:t>Shared 耗时增加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718F2-10CF-430A-9878-719DAE87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K = 31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286750" y="2905125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842e2e1cd3443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D5DD0-2809-49B5-96C5-799DE222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7151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Shared 耗时减少 16.0%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6C044-B67F-4DEE-A7B9-0DEB9915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1045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两图纵轴均为毫秒，但刻度不同。K=31 的 shared 加速比约为 1.19×。</a:t>
            </a:r>
          </a:p>
        </p:txBody>
      </p:sp>
    </p:spTree>
    <p:extLst>
      <p:ext uri="{BB962C8B-B14F-4D97-AF65-F5344CB8AC3E}">
        <p14:creationId xmlns:p14="http://schemas.microsoft.com/office/powerpoint/2010/main" val="11125413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56A05-598A-4891-ABC1-3887E15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TASK 2  结果解释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4C0E2-E1B9-4EA8-8EE0-1F3628EE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为什么读取减少，耗时却未等比例下降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EE52E-0ED6-4E5E-A192-AA4495B8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依据：源码访问方式、实测 JSON；下述瓶颈解释为待验证假设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D8FF0-D6BE-49A1-8C16-4B8D524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23174-FDA3-4314-B41C-7B480152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观测事实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FCDEB-71B3-4EF1-9624-F1030B01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666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K=3：共享内存版本更慢。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K=31：加速约 1.19×。</a:t>
            </a:r>
          </a:p>
          <a:p xmlns:a="http://schemas.openxmlformats.org/drawingml/2006/main">
            <a:pPr>
              <a:def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理论读取次数比不能当作加速比。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1237B-E012-41A0-A304-D104DFB0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6E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EA3"/>
                </a:solidFill>
                <a:latin typeface="Noto Sans CJK SC"/>
                <a:ea typeface="Noto Sans CJK SC"/>
                <a:cs typeface="Noto Sans CJK SC"/>
              </a:rPr>
              <a:t>需要测量的解释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86C06-23C7-448D-8547-F64AA28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Naive 的重复读取可能命中缓存。</a:t>
            </a:r>
          </a:p>
          <a:p xmlns:a="http://schemas.openxmlformats.org/drawingml/2006/main">
            <a:pPr>
              <a:def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Shared 新增搬运、索引与同步。</a:t>
            </a:r>
          </a:p>
          <a:p xmlns:a="http://schemas.openxmlformats.org/drawingml/2006/main">
            <a:pPr>
              <a:def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大核仍要执行大量乘加和权重读取。</a:t>
            </a:r>
          </a:p>
          <a:p xmlns:a="http://schemas.openxmlformats.org/drawingml/2006/main">
            <a:pPr>
              <a:def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更多资源占用也可能限制并发。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D5DED-FFD0-4083-842F-E1FBA7F3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Shared 版本还改变了边界判断位置；仅凭耗时无法分离每项优化的贡献。</a:t>
            </a:r>
          </a:p>
        </p:txBody>
      </p:sp>
    </p:spTree>
    <p:extLst>
      <p:ext uri="{BB962C8B-B14F-4D97-AF65-F5344CB8AC3E}">
        <p14:creationId xmlns:p14="http://schemas.microsoft.com/office/powerpoint/2010/main" val="16461024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50C45-7B16-49DF-8E23-5036E9C4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项目复盘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F4A30-506C-4D78-9D90-B90B7830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两个项目中实际用到的 CUDA 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E8994-6BFC-47EE-9E59-874948E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依据：本次 matmul.cu、conv2d.cu；“新增”均以源码为准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132D2-789B-47D1-BD73-D7ED0122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3716000" cy="504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5191125"/>
                <a:gridCol w="5429250"/>
              </a:tblGrid>
              <a:tr h="721179">
                <a:tc>
                  <a:txBody>
                    <a:bodyPr lIns="171450" tIns="133350" rIns="13335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知识点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矩阵乘法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卷积中的变化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721179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执行模型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__global__、dim3、二维索引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复用同一线程映射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179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设备资源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cudaMalloc / Memcpy / Free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增加动态 shared memory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21179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数据访问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每线程直接读全局输入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tile、halo 与协作加载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179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cudaDeviceSynchronize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新增 __syncthreads 与事件同步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21179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性能计时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chrono、GFLOPS、加速比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events、5 次预热、100 次重复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179"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数值验证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checksum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1950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逐元素容差、NaN / Inf 检查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E5F5B-E02D-4D4D-B55D-95DA893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尚未实现：constant memory、warp shuffle、显式 streams、Tensor Core。</a:t>
            </a:r>
          </a:p>
        </p:txBody>
      </p:sp>
    </p:spTree>
    <p:extLst>
      <p:ext uri="{BB962C8B-B14F-4D97-AF65-F5344CB8AC3E}">
        <p14:creationId xmlns:p14="http://schemas.microsoft.com/office/powerpoint/2010/main" val="9680550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A45E2-6A9C-4A41-9FFA-FF7F2462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后续练习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01212-9CEB-468A-A809-F6AAFC9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02C38"/>
                </a:solidFill>
                <a:latin typeface="Noto Sans CJK SC"/>
                <a:ea typeface="Noto Sans CJK SC"/>
                <a:cs typeface="Noto Sans CJK SC"/>
              </a:rPr>
              <a:t>下一轮实验可以验证什么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FCEA-62FE-41B9-95EA-FE55F6B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建议实验，尚未实现；现有实现与数据仍以本次上传文件为准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C66CC-D840-423A-A4C2-FEAD77E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629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872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953125"/>
                <a:gridCol w="4619625"/>
              </a:tblGrid>
              <a:tr h="790575"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保持不变 / 改变什么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要回答的问题</a:t>
                      </a:r>
                    </a:p>
                  </a:txBody>
                  <a:tcPr marL="91440" marR="91440" marT="45720" marB="45720" anchor="ctr">
                    <a:solidFill>
                      <a:srgbClr val="102C38"/>
                    </a:solidFill>
                  </a:tcPr>
                </a:tc>
              </a:tr>
              <a:tr h="7905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统一计时与验证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matmul 加 events、预热、逐元素检查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旧加速比有多稳定？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扫描 K 与 block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固定输入尺寸，改变奇数 K 和线程块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Shared 从什么配置开始获益？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  <a:tr h="7905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区分 kernel 与完整调用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分别计事件区间和含拷贝的端到端时间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一次完整调用实际快多少？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保存实验条件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 GPU、编译选项、误差和多轮统计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  <a:tc>
                  <a:txBody>
                    <a:bodyPr lIns="171450" tIns="133350" rIns="133350" bIns="114300"/>
                    <a:lstStyle/>
                    <a:p>
                      <a:r>
                        <a:rPr sz="2025" b="0">
                          <a:solidFill>
                            <a:srgbClr val="102C3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性能结果能否复现？</a:t>
                      </a:r>
                    </a:p>
                  </a:txBody>
                  <a:tcPr marL="91440" marR="91440" marT="45720" marB="45720" anchor="ctr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D5F20-D9A2-47D3-9768-FFF315D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7C65"/>
                </a:solidFill>
                <a:latin typeface="Noto Sans CJK SC"/>
                <a:ea typeface="Noto Sans CJK SC"/>
                <a:cs typeface="Noto Sans CJK SC"/>
              </a:rPr>
              <a:t>后续可迁移：把卷积中学到的 tile 复用思想用于矩阵乘法。</a:t>
            </a:r>
          </a:p>
        </p:txBody>
      </p:sp>
    </p:spTree>
    <p:extLst>
      <p:ext uri="{BB962C8B-B14F-4D97-AF65-F5344CB8AC3E}">
        <p14:creationId xmlns:p14="http://schemas.microsoft.com/office/powerpoint/2010/main" val="1141039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2026-09-26T17:13:13.7110000Z</dcterms:created>
  <dcterms:modified xsi:type="dcterms:W3CDTF">2026-09-26T17:13:13.7110000Z</dcterms:modified>
</coreProperties>
</file>