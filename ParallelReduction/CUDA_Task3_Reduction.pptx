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dc21ba87254eb8" /><Relationship Type="http://schemas.openxmlformats.org/officeDocument/2006/relationships/extended-properties" Target="/docProps/app.xml" Id="R0f40f5457c4c4309" /><Relationship Type="http://schemas.openxmlformats.org/officeDocument/2006/relationships/officeDocument" Target="/ppt/presentation.xml" Id="R52c85ec3cde945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b4ca972d334507"/>
  </p:sldMasterIdLst>
  <p:notesMasterIdLst>
    <p:notesMasterId xmlns:r="http://schemas.openxmlformats.org/officeDocument/2006/relationships" r:id="Re51751b2d0df4249"/>
  </p:notesMasterIdLst>
  <p:sldIdLst>
    <p:sldId xmlns:r="http://schemas.openxmlformats.org/officeDocument/2006/relationships" id="256" r:id="Rb43a29fc4cb74ec5"/>
    <p:sldId xmlns:r="http://schemas.openxmlformats.org/officeDocument/2006/relationships" id="257" r:id="R5b496f2d9e6d4756"/>
    <p:sldId xmlns:r="http://schemas.openxmlformats.org/officeDocument/2006/relationships" id="258" r:id="Rf474c5da1d944af2"/>
    <p:sldId xmlns:r="http://schemas.openxmlformats.org/officeDocument/2006/relationships" id="259" r:id="Rae0d159fc8ce4610"/>
    <p:sldId xmlns:r="http://schemas.openxmlformats.org/officeDocument/2006/relationships" id="260" r:id="Ra48a1d58842b47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a1d9939a85420a" /><Relationship Type="http://schemas.openxmlformats.org/officeDocument/2006/relationships/slideMaster" Target="/ppt/slideMasters/slideMaster1.xml" Id="R9bb4ca972d334507" /><Relationship Type="http://schemas.openxmlformats.org/officeDocument/2006/relationships/notesMaster" Target="/ppt/notesMasters/notesMaster1.xml" Id="Re51751b2d0df4249" /><Relationship Type="http://schemas.openxmlformats.org/officeDocument/2006/relationships/presProps" Target="/ppt/presProps.xml" Id="R95f0e1d81dcb4d62" /><Relationship Type="http://schemas.openxmlformats.org/officeDocument/2006/relationships/tableStyles" Target="/ppt/tableStyles.xml" Id="R2643f625bf3b49e2" /><Relationship Type="http://schemas.openxmlformats.org/officeDocument/2006/relationships/slide" Target="/ppt/slides/slide1.xml" Id="Rb43a29fc4cb74ec5" /><Relationship Type="http://schemas.openxmlformats.org/officeDocument/2006/relationships/slide" Target="/ppt/slides/slide2.xml" Id="R5b496f2d9e6d4756" /><Relationship Type="http://schemas.openxmlformats.org/officeDocument/2006/relationships/slide" Target="/ppt/slides/slide3.xml" Id="Rf474c5da1d944af2" /><Relationship Type="http://schemas.openxmlformats.org/officeDocument/2006/relationships/slide" Target="/ppt/slides/slide4.xml" Id="Rae0d159fc8ce4610" /><Relationship Type="http://schemas.openxmlformats.org/officeDocument/2006/relationships/slide" Target="/ppt/slides/slide5.xml" Id="Ra48a1d58842b47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656fe064714e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0c479e29164704" /><Relationship Type="http://schemas.openxmlformats.org/officeDocument/2006/relationships/notesMaster" Target="/ppt/notesMasters/notesMaster1.xml" Id="Ra8cad49cd60944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a1142874224551" /><Relationship Type="http://schemas.openxmlformats.org/officeDocument/2006/relationships/notesMaster" Target="/ppt/notesMasters/notesMaster1.xml" Id="R12058aa5dca043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798bd7063c428b" /><Relationship Type="http://schemas.openxmlformats.org/officeDocument/2006/relationships/notesMaster" Target="/ppt/notesMasters/notesMaster1.xml" Id="R001773bcd8b04f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7748869c6b47db" /><Relationship Type="http://schemas.openxmlformats.org/officeDocument/2006/relationships/notesMaster" Target="/ppt/notesMasters/notesMaster1.xml" Id="R36bb4f8d0b4e43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955562dcd7454d" /><Relationship Type="http://schemas.openxmlformats.org/officeDocument/2006/relationships/notesMaster" Target="/ppt/notesMasters/notesMaster1.xml" Id="Raa6a9b150f9243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这一任务是数组求和。CPU 使用 double 累加作为参考，GPU 使用 float。实现按单 block、多 block 与循环归约、grid-stride、warp shuffle 的顺序推进。多轮归约使用两个独立缓冲区交替读写。来源：本次对话中的代码与实现过程。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对照的是本次固定 256 线程的两个实现，屏障数量并不是任意归约的通用性质。共享内存版加载后同步一次，8 轮树归约各同步一次。shuffle 版先在每个 warp 内归约，再由 lane 0 写出 8 个部分和，全 block 同步后，warp 0 的 32 个 lane 共同完成最后一次归约。无有效输入的 lane 补零参与。全掩码要求参与线程正确调用 shuffle；独立线程调度意味着不能依赖隐含同步。来源：本次源码；NVIDIA CUDA Programming Guide，https://docs.nvidia.com/cuda/archive/13.0.0/cuda-c-programming-guide/index.html#warp-shuffle-functions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验证文件 reduction_validation.txt 共 54 项全部 PASS，所有记录的绝对误差为零。9 个长度为 1、17、33、257、65537、1000003、1048576、4194304、16777216，block 上限为 64、128、256。表中只展示代表样例。这里输入虽然用 float 存储，但属于小整数，在这些配置下能够精确求和。不能推广到一般浮点小数。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来源：上传的 reduction_results.txt。性能测试输入为全 1，CPU/GPU 全部通过验证，256 线程每 block，预热 5 次。每版本先测 5 批、每批 100 次完整归约，取批平均耗时的中位数。图的黑色误差线只表示五批均值的最小值到最大值，不代表置信区间。每个子图纵轴独立且从零开始。计时使用同一默认 stream 的 CUDA events，不含分配与拷贝，但可能包含提交空隙。两个版本按固定顺序测试，可能存在顺序影响。未提供 CPU 性能对比数据，故不作 GPU/CPU 加速比宣称。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来源：reduction_results.txt 的批次平均值，重算中位数后得到各组 stride/shuffle 比值。没有把最快 batch 单独作为结果。64 MiB 三种上限对应的比值约为 0.994、0.992、1.009，视为持平而非稳定加速。16 MiB、128 上限约 1.048 倍，其批次相对集中；16 MiB、256 上限约 1.307 倍，但存在明显波动。优化只改变线程局部累加之后的 block 归约，输入读取和局部累加保持相同。瓶颈可能在其他阶段，但未进行 profiler 验证，不能断言带宽已饱和。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bfc7b2efc45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29af7d02e4a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3a6f684ea74e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5c5b1544244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a5f5ff5bc48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98f7bfa58244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BB4CDA-F537-4E37-9E65-5CF1FBF071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96C3EF-ACE9-489C-A3AA-7E0BFA8528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62B1A39-2982-405A-AAA7-42DDE7A2EB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1AA9DE-3FFD-40BA-B565-6278105C0F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C0F3E3-ECE5-4380-91E9-A0675E44D6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3E5D23-6C84-4F68-91B9-7F6D505ED7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AE0E00-9F26-4952-B6CD-24F27A730E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4B3E56-C65B-43AA-8B9D-1CADEEEE73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634E1E-640D-49B0-9096-59548ADE0B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1D009F-2BEF-4E3F-9096-411B5481FA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c1956e489f49bf" /><Relationship Type="http://schemas.openxmlformats.org/officeDocument/2006/relationships/slideLayout" Target="/ppt/slideLayouts/slideLayout1.xml" Id="R6ff7bf69f8134c71" /><Relationship Type="http://schemas.openxmlformats.org/officeDocument/2006/relationships/slideLayout" Target="/ppt/slideLayouts/slideLayout2.xml" Id="R03bc7d3b94ba4e01" /><Relationship Type="http://schemas.openxmlformats.org/officeDocument/2006/relationships/slideLayout" Target="/ppt/slideLayouts/slideLayout3.xml" Id="R16b96b8e5f4447f7" /><Relationship Type="http://schemas.openxmlformats.org/officeDocument/2006/relationships/slideLayout" Target="/ppt/slideLayouts/slideLayout4.xml" Id="R26035b315ee640db" /><Relationship Type="http://schemas.openxmlformats.org/officeDocument/2006/relationships/slideLayout" Target="/ppt/slideLayouts/slideLayout5.xml" Id="R867a7e35e54440a1" /><Relationship Type="http://schemas.openxmlformats.org/officeDocument/2006/relationships/slideLayout" Target="/ppt/slideLayouts/slideLayout6.xml" Id="Rfe80ec42726e4f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f7bf69f8134c71"/>
    <p:sldLayoutId xmlns:r="http://schemas.openxmlformats.org/officeDocument/2006/relationships" id="2147483650" r:id="R03bc7d3b94ba4e01"/>
    <p:sldLayoutId xmlns:r="http://schemas.openxmlformats.org/officeDocument/2006/relationships" id="2147483651" r:id="R16b96b8e5f4447f7"/>
    <p:sldLayoutId xmlns:r="http://schemas.openxmlformats.org/officeDocument/2006/relationships" id="2147483652" r:id="R26035b315ee640db"/>
    <p:sldLayoutId xmlns:r="http://schemas.openxmlformats.org/officeDocument/2006/relationships" id="2147483653" r:id="R867a7e35e54440a1"/>
    <p:sldLayoutId xmlns:r="http://schemas.openxmlformats.org/officeDocument/2006/relationships" id="2147483654" r:id="Rfe80ec42726e4f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5a2ffdb0fa429a" /><Relationship Type="http://schemas.openxmlformats.org/officeDocument/2006/relationships/notesSlide" Target="/ppt/notesSlides/notesSlide1.xml" Id="R517606fd72084b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06b34ddc8a4035" /><Relationship Type="http://schemas.openxmlformats.org/officeDocument/2006/relationships/notesSlide" Target="/ppt/notesSlides/notesSlide2.xml" Id="Rbefee1dd8bb845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2a9cbcf63c4c8e" /><Relationship Type="http://schemas.openxmlformats.org/officeDocument/2006/relationships/notesSlide" Target="/ppt/notesSlides/notesSlide3.xml" Id="R1b7ee0a51f834d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514373d2d049a4" /><Relationship Type="http://schemas.openxmlformats.org/officeDocument/2006/relationships/image" Target="/ppt/media/image.png" Id="Rb064ce69a8dc4c32" /><Relationship Type="http://schemas.openxmlformats.org/officeDocument/2006/relationships/notesSlide" Target="/ppt/notesSlides/notesSlide4.xml" Id="Rc24b3ee0bcdf47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b10c9d246f4e16" /><Relationship Type="http://schemas.openxmlformats.org/officeDocument/2006/relationships/image" Target="/ppt/media/image2.png" Id="R1fb5f3e71d1e4e16" /><Relationship Type="http://schemas.openxmlformats.org/officeDocument/2006/relationships/notesSlide" Target="/ppt/notesSlides/notesSlide5.xml" Id="R0365622fdc2a4a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AD25F-581A-4424-A8B4-D7C60F24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Task 3: Parallel Reduction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FD07A-0ED0-4A4B-A868-0BD1ECA6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0B906-F6B9-4FDF-9F83-B409B30E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Goal: compute one sum from a large float array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DAE59-B8B2-4EC6-AA08-63B5160D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148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48A80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48A80"/>
                </a:solidFill>
                <a:latin typeface="DejaVu Sans"/>
                <a:ea typeface="DejaVu Sans"/>
                <a:cs typeface="DejaVu Sans"/>
              </a:rPr>
              <a:t>S = Σ xᵢ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2C273-9DCC-4675-80D9-BAD8B2F6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85950"/>
            <a:ext cx="5857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CPU reference: double accumulation</a:t>
            </a:r>
          </a:p>
          <a:p xmlns:a="http://schemas.openxmlformats.org/drawingml/2006/main">
            <a:pPr>
              <a:defRPr sz="1800" b="0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GPU implementation: float accumulation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85496-05F9-4C95-B224-28635CFB0E7E}"/>
              </a:ext>
            </a:extLst>
          </p:cNvPr>
          <p:cNvGraphicFramePr/>
          <p:nvPr/>
        </p:nvGraphicFramePr>
        <p:xfrm>
          <a:off xmlns:a="http://schemas.openxmlformats.org/drawingml/2006/main" x="609600" y="285750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Implementation</a:t>
                      </a:r>
                    </a:p>
                  </a:txBody>
                  <a:tcPr marL="91440" marR="91440" marT="45720" marB="45720" anchor="ctr">
                    <a:solidFill>
                      <a:srgbClr val="EDF3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I added</a:t>
                      </a:r>
                    </a:p>
                  </a:txBody>
                  <a:tcPr marL="91440" marR="91440" marT="45720" marB="45720" anchor="ctr">
                    <a:solidFill>
                      <a:srgbClr val="EDF3F6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Single 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Shared-memory reduction tree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Multiple blocks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Partial sums and repeated kernel launches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Grid-stride loop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Several inputs per thread, register accumulation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Warp shuffle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Register exchange inside each warp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76ADA-E3F6-40F5-8C42-2D5B675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Handwritten CUDA kernels with 256 threads per block</a:t>
            </a:r>
          </a:p>
        </p:txBody>
      </p:sp>
    </p:spTree>
    <p:extLst>
      <p:ext uri="{BB962C8B-B14F-4D97-AF65-F5344CB8AC3E}">
        <p14:creationId xmlns:p14="http://schemas.microsoft.com/office/powerpoint/2010/main" val="10271892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518D9-444A-4CE5-890D-1E05F152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Thread cooperation and warp shuffle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BE64D-E351-4463-B644-FE1CC874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E1E7A-26A6-4044-9D7F-970C3776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48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8A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8A80"/>
                </a:solidFill>
                <a:latin typeface="DejaVu Sans"/>
                <a:ea typeface="DejaVu Sans"/>
                <a:cs typeface="DejaVu Sans"/>
              </a:rPr>
              <a:t>256 threads per block = 8 warps × 32 threads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600F2-99B3-403F-A75B-39EB40F2DEF6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4305300"/>
                <a:gridCol w="4305300"/>
              </a:tblGrid>
              <a:tr h="56007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Block reduction</a:t>
                      </a:r>
                    </a:p>
                  </a:txBody>
                  <a:tcPr marL="91440" marR="91440" marT="45720" marB="45720" anchor="ctr">
                    <a:solidFill>
                      <a:srgbClr val="EDF3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Shared-memory version</a:t>
                      </a:r>
                    </a:p>
                  </a:txBody>
                  <a:tcPr marL="91440" marR="91440" marT="45720" marB="45720" anchor="ctr">
                    <a:solidFill>
                      <a:srgbClr val="EDF3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Shuffle version</a:t>
                      </a:r>
                    </a:p>
                  </a:txBody>
                  <a:tcPr marL="91440" marR="91440" marT="45720" marB="45720" anchor="ctr">
                    <a:solidFill>
                      <a:srgbClr val="EDF3F6"/>
                    </a:solidFill>
                  </a:tcPr>
                </a:tc>
              </a:tr>
              <a:tr h="56007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Input preparation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Per-thread register accumulation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Same grid-stride loop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Shared values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256 thread sums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 warp sums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Block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 calls to __syncthreads()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call to __syncthreads()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Final aggregation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 rounds in shared memory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Warp sums, then warp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7550B-9CBF-4697-B80E-A8706F0B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What I learned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EAC06-2919-47C6-912A-56D997E3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7207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Warp and lane IDs identify cooperating threads.</a:t>
            </a:r>
          </a:p>
          <a:p xmlns:a="http://schemas.openxmlformats.org/drawingml/2006/main">
            <a:pPr>
              <a:defRPr sz="1875" b="0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Shuffle needs all lanes named by its mask to participate.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DE13E-9C69-416A-97DB-0DF3E971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Shared data exchanged between warps still needs a block barrier.</a:t>
            </a:r>
          </a:p>
        </p:txBody>
      </p:sp>
    </p:spTree>
    <p:extLst>
      <p:ext uri="{BB962C8B-B14F-4D97-AF65-F5344CB8AC3E}">
        <p14:creationId xmlns:p14="http://schemas.microsoft.com/office/powerpoint/2010/main" val="1365894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EF648-76C3-4AEF-89A6-90B6FC9C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Correctness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E19BA-0DAC-43FF-A570-6458985D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2EBFC-AE73-41EE-923F-66B6598E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191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450" b="1">
                <a:solidFill>
                  <a:srgbClr val="148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148A80"/>
                </a:solidFill>
                <a:latin typeface="DejaVu Sans"/>
                <a:ea typeface="DejaVu Sans"/>
                <a:cs typeface="DejaVu Sans"/>
              </a:defRPr>
            </a:pPr>
            <a:r>
              <a:rPr sz="6450" b="1">
                <a:solidFill>
                  <a:srgbClr val="148A80"/>
                </a:solidFill>
                <a:latin typeface="DejaVu Sans"/>
                <a:ea typeface="DejaVu Sans"/>
                <a:cs typeface="DejaVu Sans"/>
              </a:rPr>
              <a:t>54 / 54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B2CB1-6D17-419F-BEC6-39A23CC8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479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tests 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EDA4C-1288-443D-BF89-218A396F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9 lengths × 3 block limits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× 2 GPU versions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DB062-E37D-4FD1-8DF3-D5A05972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Maximum absolute error: 0</a:t>
            </a:r>
          </a:p>
          <a:p xmlns:a="http://schemas.openxmlformats.org/drawingml/2006/main">
            <a:pPr>
              <a:defRPr sz="1875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for these integer-valued tests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09639-FD45-4AAE-9FD8-79C0441DEBB0}"/>
              </a:ext>
            </a:extLst>
          </p:cNvPr>
          <p:cNvGraphicFramePr/>
          <p:nvPr/>
        </p:nvGraphicFramePr>
        <p:xfrm>
          <a:off xmlns:a="http://schemas.openxmlformats.org/drawingml/2006/main" x="4914900" y="1476375"/>
          <a:ext xmlns:a="http://schemas.openxmlformats.org/drawingml/2006/main" cx="66675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810000"/>
              </a:tblGrid>
              <a:tr h="593725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 (selected tests)</a:t>
                      </a:r>
                    </a:p>
                  </a:txBody>
                  <a:tcPr marL="91440" marR="91440" marT="45720" marB="45720" anchor="ctr">
                    <a:solidFill>
                      <a:srgbClr val="EDF3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CPU = both GPU versions</a:t>
                      </a:r>
                    </a:p>
                  </a:txBody>
                  <a:tcPr marL="91440" marR="91440" marT="45720" marB="45720" anchor="ctr">
                    <a:solidFill>
                      <a:srgbClr val="EDF3F6"/>
                    </a:solidFill>
                  </a:tcPr>
                </a:tc>
              </a:tr>
              <a:tr h="5937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1,000,003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16,777,216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DDA5D-1DD9-4A51-AB81-45A57D8E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Input: x[i] = (i % 17) − 8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B1F66-E79F-43EB-855B-77D65545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Positive, negative and zero values; irregular lengths and large arrays.</a:t>
            </a:r>
          </a:p>
          <a:p xmlns:a="http://schemas.openxmlformats.org/drawingml/2006/main">
            <a:pPr>
              <a:defRPr sz="15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Zero error here does not imply exact sums for arbitrary floating-point inputs.</a:t>
            </a:r>
          </a:p>
        </p:txBody>
      </p:sp>
    </p:spTree>
    <p:extLst>
      <p:ext uri="{BB962C8B-B14F-4D97-AF65-F5344CB8AC3E}">
        <p14:creationId xmlns:p14="http://schemas.microsoft.com/office/powerpoint/2010/main" val="21428603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4D360-E639-4EE2-971D-6E1841A3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Measured reduction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D7B86-9DC5-411D-B936-950CE4DB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612C0-5FDC-459F-96B4-6DB292DA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All-one input; 256 threads/block; full reduction, excluding transfers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76C90-DB76-4694-893B-8BEFC29CB5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4ce69a8dc4c32"/>
          <a:stretch xmlns:a="http://schemas.openxmlformats.org/drawingml/2006/main"/>
        </p:blipFill>
        <p:spPr>
          <a:xfrm xmlns:a="http://schemas.openxmlformats.org/drawingml/2006/main">
            <a:off x="266700" y="1676808"/>
            <a:ext cx="11658600" cy="391395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34435-4F15-4C8B-A4A4-0941D7B9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Bars: median of 5 batch averages. Each batch contains 100 reductions.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A41F0-BC7D-48E4-9E1E-726BF5EF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Whiskers: min–max batch averages, not confidence intervals. Independent y axes.</a:t>
            </a:r>
          </a:p>
        </p:txBody>
      </p:sp>
    </p:spTree>
    <p:extLst>
      <p:ext uri="{BB962C8B-B14F-4D97-AF65-F5344CB8AC3E}">
        <p14:creationId xmlns:p14="http://schemas.microsoft.com/office/powerpoint/2010/main" val="1178138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CF0C8-B5C4-4266-99A2-7FB7B6AE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Shuffle gains depend on the workload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C684E-396A-419E-A71F-61DFD07F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51294-FFFE-4A99-B383-A47E6E8C56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5f3e71d1e4e16"/>
          <a:stretch xmlns:a="http://schemas.openxmlformats.org/drawingml/2006/main"/>
        </p:blipFill>
        <p:spPr>
          <a:xfrm xmlns:a="http://schemas.openxmlformats.org/drawingml/2006/main">
            <a:off x="304800" y="1518158"/>
            <a:ext cx="6838950" cy="401218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5E407-AE67-4314-AF6F-2725505F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53075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Above 1× means shuffle is faster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10BC9-D9D6-472A-935B-A389B3D2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5260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48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8A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8A80"/>
                </a:solidFill>
                <a:latin typeface="DejaVu Sans"/>
                <a:ea typeface="DejaVu Sans"/>
                <a:cs typeface="DejaVu Sans"/>
              </a:rPr>
              <a:t>64 MiB: essentially tied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D9A1C-9F10-4BC5-88A8-44D9AFC8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86025"/>
            <a:ext cx="4114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All three speedups stay</a:t>
            </a:r>
          </a:p>
          <a:p xmlns:a="http://schemas.openxmlformats.org/drawingml/2006/main">
            <a:pPr>
              <a:defRPr sz="1875" b="0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within about 1% of 1×.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3964D-CC19-45A4-ADFC-BAC06E0B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14725"/>
            <a:ext cx="4114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Batch variation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992F8-318B-4713-B55F-0BDB5F0B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10025"/>
            <a:ext cx="4114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The 1.307× result has visible</a:t>
            </a:r>
          </a:p>
          <a:p xmlns:a="http://schemas.openxmlformats.org/drawingml/2006/main">
            <a:pPr>
              <a:defRPr sz="18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batch variation. Treat it as</a:t>
            </a:r>
          </a:p>
          <a:p xmlns:a="http://schemas.openxmlformats.org/drawingml/2006/main">
            <a:pPr>
              <a:defRPr sz="1800" b="0">
                <a:solidFill>
                  <a:srgbClr val="54677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46779"/>
                </a:solidFill>
                <a:latin typeface="DejaVu Sans"/>
                <a:ea typeface="DejaVu Sans"/>
                <a:cs typeface="DejaVu Sans"/>
              </a:rPr>
              <a:t>one observation.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01C57-5081-440E-BFE0-BF6ABB01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2D4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0"/>
                </a:solidFill>
                <a:latin typeface="DejaVu Sans"/>
                <a:ea typeface="DejaVu Sans"/>
                <a:cs typeface="DejaVu Sans"/>
              </a:rPr>
              <a:t>Lesson: fewer barriers do not guarantee lower total runtime</a:t>
            </a:r>
          </a:p>
        </p:txBody>
      </p:sp>
    </p:spTree>
    <p:extLst>
      <p:ext uri="{BB962C8B-B14F-4D97-AF65-F5344CB8AC3E}">
        <p14:creationId xmlns:p14="http://schemas.microsoft.com/office/powerpoint/2010/main" val="442332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2026-10-10T20:29:43.2160000Z</dcterms:created>
  <dcterms:modified xsi:type="dcterms:W3CDTF">2026-10-10T20:29:43.2160000Z</dcterms:modified>
</coreProperties>
</file>